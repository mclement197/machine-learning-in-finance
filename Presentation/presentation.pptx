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Interrupted</c:v>
                </c:pt>
              </c:strCache>
            </c:strRef>
          </c:tx>
          <c:spPr>
            <a:solidFill>
              <a:srgbClr val="00843D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SBA</c:v>
                </c:pt>
                <c:pt idx="1">
                  <c:v>EFF</c:v>
                </c:pt>
                <c:pt idx="2">
                  <c:v>ECF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</c:v>
                </c:pt>
                <c:pt idx="1">
                  <c:v>0.56</c:v>
                </c:pt>
                <c:pt idx="2">
                  <c:v>0.38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500">
                  <a:solidFill>
                    <a:srgbClr val="17352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b"/>
        <c:majorGridlines>
          <c:spPr>
            <a:ln>
              <a:solidFill>
                <a:srgbClr val="D7E3DC"/>
              </a:solidFill>
            </a:ln>
          </c:spPr>
        </c:majorGridlines>
        <c:numFmt formatCode="0%" sourceLinked="0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300">
                <a:latin typeface="Arial"/>
              </a:defRPr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4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Country-grouped validation holds out entire countries, giving the lowest best validation score in this comparison. Source: original random-forest tuning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0.620 is mean-fold tuning balanced accuracy; 0.630 is pooled development OOF balanced accuracy at threshold 0.51. The latter is not an independent final assessment because development results informed model and threshold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Coefficient magnitudes depend on the units of each predictor; they are not directly comparable measures of importance. Logistic classification uses a 0.50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45168" y="0"/>
            <a:ext cx="2846832" cy="6858000"/>
          </a:xfrm>
          <a:prstGeom prst="rect">
            <a:avLst/>
          </a:prstGeom>
          <a:solidFill>
            <a:srgbClr val="F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hsg_logo.png" descr="hsg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94360"/>
            <a:ext cx="2926080" cy="631260"/>
          </a:xfrm>
          <a:prstGeom prst="rect">
            <a:avLst/>
          </a:prstGeom>
        </p:spPr>
      </p:pic>
      <p:sp>
        <p:nvSpPr>
          <p:cNvPr id="5" name="Reading IMF Programs"/>
          <p:cNvSpPr txBox="1"/>
          <p:nvPr/>
        </p:nvSpPr>
        <p:spPr>
          <a:xfrm>
            <a:off x="704088" y="1847088"/>
            <a:ext cx="8348472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52D"/>
                </a:solidFill>
                <a:latin typeface="Arial"/>
              </a:defRPr>
            </a:pPr>
            <a:r>
              <a:t>Reading IMF Programs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52D"/>
                </a:solidFill>
                <a:latin typeface="Arial"/>
              </a:defRPr>
            </a:pPr>
            <a:r>
              <a:t>on Day One</a:t>
            </a:r>
          </a:p>
        </p:txBody>
      </p:sp>
      <p:sp>
        <p:nvSpPr>
          <p:cNvPr id="6" name="Machine learning on 173 IMF lending programmes"/>
          <p:cNvSpPr txBox="1"/>
          <p:nvPr/>
        </p:nvSpPr>
        <p:spPr>
          <a:xfrm>
            <a:off x="704088" y="3502152"/>
            <a:ext cx="82753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52D"/>
                </a:solidFill>
                <a:latin typeface="Arial"/>
              </a:defRPr>
            </a:pPr>
            <a:r>
              <a:t>Machine learning on 173 IMF lending programmes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52D"/>
                </a:solidFill>
                <a:latin typeface="Arial"/>
              </a:defRPr>
            </a:pPr>
            <a:r>
              <a:t>2002–2016</a:t>
            </a:r>
          </a:p>
        </p:txBody>
      </p:sp>
      <p:sp>
        <p:nvSpPr>
          <p:cNvPr id="7" name="Mathis Clément"/>
          <p:cNvSpPr txBox="1"/>
          <p:nvPr/>
        </p:nvSpPr>
        <p:spPr>
          <a:xfrm>
            <a:off x="704088" y="5175504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7352D"/>
                </a:solidFill>
                <a:latin typeface="Arial"/>
              </a:defRPr>
            </a:pPr>
            <a:r>
              <a:t>Mathis Clément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7352D"/>
                </a:solidFill>
                <a:latin typeface="Arial"/>
              </a:defRPr>
            </a:pPr>
            <a:r>
              <a:t>Tristan Zemp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7352D"/>
                </a:solidFill>
                <a:latin typeface="Arial"/>
              </a:defRPr>
            </a:pPr>
            <a:r>
              <a:t>Federico Marcelli</a:t>
            </a:r>
          </a:p>
        </p:txBody>
      </p:sp>
      <p:sp>
        <p:nvSpPr>
          <p:cNvPr id="8" name="Ethan Moore"/>
          <p:cNvSpPr txBox="1"/>
          <p:nvPr/>
        </p:nvSpPr>
        <p:spPr>
          <a:xfrm>
            <a:off x="2880360" y="5175504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7352D"/>
                </a:solidFill>
                <a:latin typeface="Arial"/>
              </a:defRPr>
            </a:pPr>
            <a:r>
              <a:t>Ethan Moore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7352D"/>
                </a:solidFill>
                <a:latin typeface="Arial"/>
              </a:defRPr>
            </a:pPr>
            <a:r>
              <a:t>Joao Matteo Pisaturo</a:t>
            </a:r>
          </a:p>
        </p:txBody>
      </p:sp>
      <p:sp>
        <p:nvSpPr>
          <p:cNvPr id="9" name="Ali Haidar"/>
          <p:cNvSpPr txBox="1"/>
          <p:nvPr/>
        </p:nvSpPr>
        <p:spPr>
          <a:xfrm>
            <a:off x="5705856" y="5175504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7352D"/>
                </a:solidFill>
                <a:latin typeface="Arial"/>
              </a:defRPr>
            </a:pPr>
            <a:r>
              <a:t>Ali Haidar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7352D"/>
                </a:solidFill>
                <a:latin typeface="Arial"/>
              </a:defRPr>
            </a:pPr>
            <a:r>
              <a:t>José Pablo Caldas</a:t>
            </a:r>
          </a:p>
        </p:txBody>
      </p:sp>
      <p:sp>
        <p:nvSpPr>
          <p:cNvPr id="10" name="University of St. Gallen  •  7 October 2026"/>
          <p:cNvSpPr txBox="1"/>
          <p:nvPr/>
        </p:nvSpPr>
        <p:spPr>
          <a:xfrm>
            <a:off x="704088" y="6099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16B"/>
                </a:solidFill>
                <a:latin typeface="Arial"/>
              </a:defRPr>
            </a:pPr>
            <a:r>
              <a:t>University of St. Gallen  •  7 October 2026</a:t>
            </a:r>
          </a:p>
        </p:txBody>
      </p:sp>
      <p:sp>
        <p:nvSpPr>
          <p:cNvPr id="11" name="173"/>
          <p:cNvSpPr txBox="1"/>
          <p:nvPr/>
        </p:nvSpPr>
        <p:spPr>
          <a:xfrm>
            <a:off x="9784080" y="1389888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00843D"/>
                </a:solidFill>
                <a:latin typeface="Arial"/>
              </a:defRPr>
            </a:pPr>
            <a:r>
              <a:t>173</a:t>
            </a:r>
          </a:p>
        </p:txBody>
      </p:sp>
      <p:sp>
        <p:nvSpPr>
          <p:cNvPr id="12" name="Programmes"/>
          <p:cNvSpPr txBox="1"/>
          <p:nvPr/>
        </p:nvSpPr>
        <p:spPr>
          <a:xfrm>
            <a:off x="9784080" y="2112264"/>
            <a:ext cx="2029968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52D"/>
                </a:solidFill>
                <a:latin typeface="Arial"/>
              </a:defRPr>
            </a:pPr>
            <a:r>
              <a:t>Programmes</a:t>
            </a:r>
          </a:p>
        </p:txBody>
      </p:sp>
      <p:sp>
        <p:nvSpPr>
          <p:cNvPr id="13" name="2002–2016"/>
          <p:cNvSpPr txBox="1"/>
          <p:nvPr/>
        </p:nvSpPr>
        <p:spPr>
          <a:xfrm>
            <a:off x="9784080" y="2441448"/>
            <a:ext cx="202996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60716B"/>
                </a:solidFill>
                <a:latin typeface="Arial"/>
              </a:defRPr>
            </a:pPr>
            <a:r>
              <a:t>2002–2016</a:t>
            </a:r>
          </a:p>
        </p:txBody>
      </p:sp>
      <p:sp>
        <p:nvSpPr>
          <p:cNvPr id="14" name="13"/>
          <p:cNvSpPr txBox="1"/>
          <p:nvPr/>
        </p:nvSpPr>
        <p:spPr>
          <a:xfrm>
            <a:off x="9784080" y="3145536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00843D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5" name="Predictors"/>
          <p:cNvSpPr txBox="1"/>
          <p:nvPr/>
        </p:nvSpPr>
        <p:spPr>
          <a:xfrm>
            <a:off x="9784080" y="3867912"/>
            <a:ext cx="2029968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52D"/>
                </a:solidFill>
                <a:latin typeface="Arial"/>
              </a:defRPr>
            </a:pPr>
            <a:r>
              <a:t>Predictors</a:t>
            </a:r>
          </a:p>
        </p:txBody>
      </p:sp>
      <p:sp>
        <p:nvSpPr>
          <p:cNvPr id="16" name="Known at approval"/>
          <p:cNvSpPr txBox="1"/>
          <p:nvPr/>
        </p:nvSpPr>
        <p:spPr>
          <a:xfrm>
            <a:off x="9784080" y="4197096"/>
            <a:ext cx="202996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60716B"/>
                </a:solidFill>
                <a:latin typeface="Arial"/>
              </a:defRPr>
            </a:pPr>
            <a:r>
              <a:t>Known at approval</a:t>
            </a:r>
          </a:p>
        </p:txBody>
      </p:sp>
      <p:sp>
        <p:nvSpPr>
          <p:cNvPr id="17" name="3"/>
          <p:cNvSpPr txBox="1"/>
          <p:nvPr/>
        </p:nvSpPr>
        <p:spPr>
          <a:xfrm>
            <a:off x="9784080" y="4901184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00843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Models"/>
          <p:cNvSpPr txBox="1"/>
          <p:nvPr/>
        </p:nvSpPr>
        <p:spPr>
          <a:xfrm>
            <a:off x="9784080" y="5623560"/>
            <a:ext cx="2029968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52D"/>
                </a:solidFill>
                <a:latin typeface="Arial"/>
              </a:defRPr>
            </a:pPr>
            <a:r>
              <a:t>Models</a:t>
            </a:r>
          </a:p>
        </p:txBody>
      </p:sp>
      <p:sp>
        <p:nvSpPr>
          <p:cNvPr id="19" name="One prediction task"/>
          <p:cNvSpPr txBox="1"/>
          <p:nvPr/>
        </p:nvSpPr>
        <p:spPr>
          <a:xfrm>
            <a:off x="9784080" y="5952744"/>
            <a:ext cx="202996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60716B"/>
                </a:solidFill>
                <a:latin typeface="Arial"/>
              </a:defRPr>
            </a:pPr>
            <a:r>
              <a:t>One prediction task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xecutive summary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Executive 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937846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1/13</a:t>
            </a:r>
          </a:p>
        </p:txBody>
      </p:sp>
      <p:sp>
        <p:nvSpPr>
          <p:cNvPr id="6" name="Machine Learning in Finance  /  Overview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Overview</a:t>
            </a:r>
          </a:p>
        </p:txBody>
      </p:sp>
      <p:sp>
        <p:nvSpPr>
          <p:cNvPr id="7" name="THE QUESTION"/>
          <p:cNvSpPr txBox="1"/>
          <p:nvPr/>
        </p:nvSpPr>
        <p:spPr>
          <a:xfrm>
            <a:off x="548640" y="1051560"/>
            <a:ext cx="6629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THE QUESTION</a:t>
            </a:r>
          </a:p>
        </p:txBody>
      </p:sp>
      <p:sp>
        <p:nvSpPr>
          <p:cNvPr id="8" name="Can information available at approval predict permanent interruption?"/>
          <p:cNvSpPr txBox="1"/>
          <p:nvPr/>
        </p:nvSpPr>
        <p:spPr>
          <a:xfrm>
            <a:off x="548640" y="1399032"/>
            <a:ext cx="6693408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352D"/>
                </a:solidFill>
                <a:latin typeface="Arial"/>
              </a:defRPr>
            </a:pPr>
            <a:r>
              <a:t>Can information available at approval predict permanent interruption?</a:t>
            </a:r>
          </a:p>
        </p:txBody>
      </p:sp>
      <p:sp>
        <p:nvSpPr>
          <p:cNvPr id="9" name="A modest signal in development"/>
          <p:cNvSpPr txBox="1"/>
          <p:nvPr/>
        </p:nvSpPr>
        <p:spPr>
          <a:xfrm>
            <a:off x="548640" y="2377440"/>
            <a:ext cx="6656832" cy="1033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A modest signal in development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The random forest reaches about 0.63 balanced accuracy out of fold.</a:t>
            </a:r>
          </a:p>
        </p:txBody>
      </p:sp>
      <p:sp>
        <p:nvSpPr>
          <p:cNvPr id="10" name="No reliable test-set advantage"/>
          <p:cNvSpPr txBox="1"/>
          <p:nvPr/>
        </p:nvSpPr>
        <p:spPr>
          <a:xfrm>
            <a:off x="548640" y="3465576"/>
            <a:ext cx="6656832" cy="1033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No reliable test-set advantage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With only 28 later programmes, performance is unstable and close to chance.</a:t>
            </a:r>
          </a:p>
        </p:txBody>
      </p:sp>
      <p:sp>
        <p:nvSpPr>
          <p:cNvPr id="11" name="Programme design is most informative"/>
          <p:cNvSpPr txBox="1"/>
          <p:nvPr/>
        </p:nvSpPr>
        <p:spPr>
          <a:xfrm>
            <a:off x="548640" y="4553712"/>
            <a:ext cx="6656832" cy="1033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Programme design is most informative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Scheduled reviews, facility type and loan access lead the forest’s importance ranking.</a:t>
            </a:r>
          </a:p>
        </p:txBody>
      </p:sp>
      <p:sp>
        <p:nvSpPr>
          <p:cNvPr id="12" name="ROAD MAP"/>
          <p:cNvSpPr txBox="1"/>
          <p:nvPr/>
        </p:nvSpPr>
        <p:spPr>
          <a:xfrm>
            <a:off x="7872983" y="1051560"/>
            <a:ext cx="3767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ROAD MAP</a:t>
            </a:r>
          </a:p>
        </p:txBody>
      </p:sp>
      <p:sp>
        <p:nvSpPr>
          <p:cNvPr id="13" name="1.  Literature and research question"/>
          <p:cNvSpPr txBox="1"/>
          <p:nvPr/>
        </p:nvSpPr>
        <p:spPr>
          <a:xfrm>
            <a:off x="7872983" y="1481328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52D"/>
                </a:solidFill>
                <a:latin typeface="Arial"/>
              </a:defRPr>
            </a:pPr>
            <a:r>
              <a:t>1.  Literature and research question</a:t>
            </a:r>
          </a:p>
        </p:txBody>
      </p:sp>
      <p:sp>
        <p:nvSpPr>
          <p:cNvPr id="14" name="2.  Study goal"/>
          <p:cNvSpPr txBox="1"/>
          <p:nvPr/>
        </p:nvSpPr>
        <p:spPr>
          <a:xfrm>
            <a:off x="7872983" y="2002536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52D"/>
                </a:solidFill>
                <a:latin typeface="Arial"/>
              </a:defRPr>
            </a:pPr>
            <a:r>
              <a:t>2.  Study goal</a:t>
            </a:r>
          </a:p>
        </p:txBody>
      </p:sp>
      <p:sp>
        <p:nvSpPr>
          <p:cNvPr id="15" name="3.  Data and feature engineering"/>
          <p:cNvSpPr txBox="1"/>
          <p:nvPr/>
        </p:nvSpPr>
        <p:spPr>
          <a:xfrm>
            <a:off x="7872983" y="2523744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52D"/>
                </a:solidFill>
                <a:latin typeface="Arial"/>
              </a:defRPr>
            </a:pPr>
            <a:r>
              <a:t>3.  Data and feature engineering</a:t>
            </a:r>
          </a:p>
        </p:txBody>
      </p:sp>
      <p:sp>
        <p:nvSpPr>
          <p:cNvPr id="16" name="4.  Three prediction models"/>
          <p:cNvSpPr txBox="1"/>
          <p:nvPr/>
        </p:nvSpPr>
        <p:spPr>
          <a:xfrm>
            <a:off x="7872983" y="3044952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52D"/>
                </a:solidFill>
                <a:latin typeface="Arial"/>
              </a:defRPr>
            </a:pPr>
            <a:r>
              <a:t>4.  Three prediction models</a:t>
            </a:r>
          </a:p>
        </p:txBody>
      </p:sp>
      <p:sp>
        <p:nvSpPr>
          <p:cNvPr id="17" name="5.  Model comparison"/>
          <p:cNvSpPr txBox="1"/>
          <p:nvPr/>
        </p:nvSpPr>
        <p:spPr>
          <a:xfrm>
            <a:off x="7872983" y="3566160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52D"/>
                </a:solidFill>
                <a:latin typeface="Arial"/>
              </a:defRPr>
            </a:pPr>
            <a:r>
              <a:t>5.  Model comparison</a:t>
            </a:r>
          </a:p>
        </p:txBody>
      </p:sp>
      <p:sp>
        <p:nvSpPr>
          <p:cNvPr id="18" name="6.  Limitations and conclusion"/>
          <p:cNvSpPr txBox="1"/>
          <p:nvPr/>
        </p:nvSpPr>
        <p:spPr>
          <a:xfrm>
            <a:off x="7872983" y="4087368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52D"/>
                </a:solidFill>
                <a:latin typeface="Arial"/>
              </a:defRPr>
            </a:pPr>
            <a:r>
              <a:t>6.  Limitations and conclusion</a:t>
            </a:r>
          </a:p>
        </p:txBody>
      </p:sp>
      <p:sp>
        <p:nvSpPr>
          <p:cNvPr id="19" name="7.  Sources"/>
          <p:cNvSpPr txBox="1"/>
          <p:nvPr/>
        </p:nvSpPr>
        <p:spPr>
          <a:xfrm>
            <a:off x="7872983" y="4608576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52D"/>
                </a:solidFill>
                <a:latin typeface="Arial"/>
              </a:defRPr>
            </a:pPr>
            <a:r>
              <a:t>7.  Sources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70448"/>
            <a:ext cx="11091672" cy="530352"/>
          </a:xfrm>
          <a:prstGeom prst="rect">
            <a:avLst/>
          </a:prstGeom>
          <a:solidFill>
            <a:srgbClr val="F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pproval-day information contains some signal, but reliable out-of-sample prediction remai"/>
          <p:cNvSpPr txBox="1"/>
          <p:nvPr/>
        </p:nvSpPr>
        <p:spPr>
          <a:xfrm>
            <a:off x="685800" y="5966460"/>
            <a:ext cx="10817352" cy="3840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52D"/>
                </a:solidFill>
                <a:latin typeface="Arial"/>
              </a:defRPr>
            </a:pPr>
            <a:r>
              <a:t>Approval-day information contains some signal, but reliable out-of-sample prediction remains difficult.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hy predict interruption at approval?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Why predict interruption at approval?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1875692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2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2/13</a:t>
            </a:r>
          </a:p>
        </p:txBody>
      </p:sp>
      <p:sp>
        <p:nvSpPr>
          <p:cNvPr id="6" name="Machine Learning in Finance  /  Research question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Research question</a:t>
            </a:r>
          </a:p>
        </p:txBody>
      </p:sp>
      <p:sp>
        <p:nvSpPr>
          <p:cNvPr id="7" name="Financial relevance"/>
          <p:cNvSpPr txBox="1"/>
          <p:nvPr/>
        </p:nvSpPr>
        <p:spPr>
          <a:xfrm>
            <a:off x="548640" y="1088136"/>
            <a:ext cx="5650992" cy="1033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Financial relevance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Interruptions can weaken investor confidence and sovereign financing credibility.</a:t>
            </a:r>
          </a:p>
        </p:txBody>
      </p:sp>
      <p:sp>
        <p:nvSpPr>
          <p:cNvPr id="8" name="Politics and conditionality"/>
          <p:cNvSpPr txBox="1"/>
          <p:nvPr/>
        </p:nvSpPr>
        <p:spPr>
          <a:xfrm>
            <a:off x="548640" y="2286000"/>
            <a:ext cx="5650992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Politics and conditionality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Political incentives and institutional capacity affect implementation; evidence on structural conditions is mixed.</a:t>
            </a:r>
          </a:p>
        </p:txBody>
      </p:sp>
      <p:sp>
        <p:nvSpPr>
          <p:cNvPr id="9" name="Ivanova et al. (2003); Joyce (2006); Reinsberg et al. (2022)."/>
          <p:cNvSpPr txBox="1"/>
          <p:nvPr/>
        </p:nvSpPr>
        <p:spPr>
          <a:xfrm>
            <a:off x="548640" y="3575304"/>
            <a:ext cx="565099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Ivanova et al. (2003); Joyce (2006); Reinsberg et al. (2022).</a:t>
            </a:r>
          </a:p>
        </p:txBody>
      </p:sp>
      <p:sp>
        <p:nvSpPr>
          <p:cNvPr id="10" name="The gap in machine learning"/>
          <p:cNvSpPr txBox="1"/>
          <p:nvPr/>
        </p:nvSpPr>
        <p:spPr>
          <a:xfrm>
            <a:off x="548640" y="4078224"/>
            <a:ext cx="565099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The gap in machine learning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Existing studies predict IMF participation. We ask whether approval-time information predicts permanent interruption.</a:t>
            </a:r>
          </a:p>
        </p:txBody>
      </p:sp>
      <p:sp>
        <p:nvSpPr>
          <p:cNvPr id="11" name="Agbloyor et al. (2023); Batsuuri et al. (2024)."/>
          <p:cNvSpPr txBox="1"/>
          <p:nvPr/>
        </p:nvSpPr>
        <p:spPr>
          <a:xfrm>
            <a:off x="548640" y="5477256"/>
            <a:ext cx="56509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Agbloyor et al. (2023); Batsuuri et al. (2024).</a:t>
            </a:r>
          </a:p>
        </p:txBody>
      </p:sp>
      <p:sp>
        <p:nvSpPr>
          <p:cNvPr id="12" name="TIMING OF IMF PROGRAMME DISBURSEMENTS"/>
          <p:cNvSpPr txBox="1"/>
          <p:nvPr/>
        </p:nvSpPr>
        <p:spPr>
          <a:xfrm>
            <a:off x="6629400" y="1088136"/>
            <a:ext cx="501091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TIMING OF IMF PROGRAMME DISBURSEMENTS</a:t>
            </a:r>
          </a:p>
        </p:txBody>
      </p:sp>
      <p:pic>
        <p:nvPicPr>
          <p:cNvPr id="13" name="disbursement_timeline.png" descr="disbursement timel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55648"/>
            <a:ext cx="5010912" cy="2042664"/>
          </a:xfrm>
          <a:prstGeom prst="rect">
            <a:avLst/>
          </a:prstGeom>
        </p:spPr>
      </p:pic>
      <p:sp>
        <p:nvSpPr>
          <p:cNvPr id="14" name="Source: Aiyar and Patnam (2021), IMF Working Paper 21/146, Figure 2, p. 8."/>
          <p:cNvSpPr txBox="1"/>
          <p:nvPr/>
        </p:nvSpPr>
        <p:spPr>
          <a:xfrm>
            <a:off x="6629400" y="3986784"/>
            <a:ext cx="501091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Source: Aiyar and Patnam (2021), IMF Working Paper 21/146, Figure 2, p. 8.</a:t>
            </a:r>
          </a:p>
        </p:txBody>
      </p:sp>
      <p:sp>
        <p:nvSpPr>
          <p:cNvPr id="15" name="A programme can end before its scheduled final review. The prediction must be made at Boar"/>
          <p:cNvSpPr txBox="1"/>
          <p:nvPr/>
        </p:nvSpPr>
        <p:spPr>
          <a:xfrm>
            <a:off x="6629400" y="4636008"/>
            <a:ext cx="5010912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52D"/>
                </a:solidFill>
                <a:latin typeface="Arial"/>
              </a:defRPr>
            </a:pPr>
            <a:r>
              <a:t>A programme can end before its scheduled final review. The prediction must be made at Board approval.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70448"/>
            <a:ext cx="11091672" cy="530352"/>
          </a:xfrm>
          <a:prstGeom prst="rect">
            <a:avLst/>
          </a:prstGeom>
          <a:solidFill>
            <a:srgbClr val="F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information available at approval predict permanent interruption?"/>
          <p:cNvSpPr txBox="1"/>
          <p:nvPr/>
        </p:nvSpPr>
        <p:spPr>
          <a:xfrm>
            <a:off x="685800" y="5966460"/>
            <a:ext cx="10817352" cy="3840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52D"/>
                </a:solidFill>
                <a:latin typeface="Arial"/>
              </a:defRPr>
            </a:pPr>
            <a:r>
              <a:t>Can information available at approval predict permanent interruption?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udy goal and sample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Study goal and sample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2813538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3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3/13</a:t>
            </a:r>
          </a:p>
        </p:txBody>
      </p:sp>
      <p:sp>
        <p:nvSpPr>
          <p:cNvPr id="6" name="Machine Learning in Finance  /  Study design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Study design</a:t>
            </a:r>
          </a:p>
        </p:txBody>
      </p:sp>
      <p:sp>
        <p:nvSpPr>
          <p:cNvPr id="7" name="BINARY CLASSIFICATION"/>
          <p:cNvSpPr txBox="1"/>
          <p:nvPr/>
        </p:nvSpPr>
        <p:spPr>
          <a:xfrm>
            <a:off x="548640" y="107899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BINARY CLASSIFICATION</a:t>
            </a:r>
          </a:p>
        </p:txBody>
      </p:sp>
      <p:sp>
        <p:nvSpPr>
          <p:cNvPr id="8" name="Outcome: programme interruption"/>
          <p:cNvSpPr txBox="1"/>
          <p:nvPr/>
        </p:nvSpPr>
        <p:spPr>
          <a:xfrm>
            <a:off x="548640" y="1481328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52D"/>
                </a:solidFill>
                <a:latin typeface="Arial"/>
              </a:defRPr>
            </a:pPr>
            <a:r>
              <a:t>Outcome: programme interruption</a:t>
            </a:r>
          </a:p>
        </p:txBody>
      </p:sp>
      <p:sp>
        <p:nvSpPr>
          <p:cNvPr id="9" name="Y = 1"/>
          <p:cNvSpPr txBox="1"/>
          <p:nvPr/>
        </p:nvSpPr>
        <p:spPr>
          <a:xfrm>
            <a:off x="777240" y="2048256"/>
            <a:ext cx="5166360" cy="9784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17352D"/>
                </a:solidFill>
                <a:latin typeface="Arial"/>
              </a:defRPr>
            </a:pPr>
            <a:r>
              <a:t>Y = 1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800">
                <a:solidFill>
                  <a:srgbClr val="17352D"/>
                </a:solidFill>
                <a:latin typeface="Arial"/>
              </a:defRPr>
            </a:pPr>
            <a:r>
              <a:t>At least one scheduled review was never completed.</a:t>
            </a:r>
          </a:p>
        </p:txBody>
      </p:sp>
      <p:sp>
        <p:nvSpPr>
          <p:cNvPr id="10" name="Y = 0"/>
          <p:cNvSpPr txBox="1"/>
          <p:nvPr/>
        </p:nvSpPr>
        <p:spPr>
          <a:xfrm>
            <a:off x="777240" y="3127248"/>
            <a:ext cx="516636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17352D"/>
                </a:solidFill>
                <a:latin typeface="Arial"/>
              </a:defRPr>
            </a:pPr>
            <a:r>
              <a:t>Y = 0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800">
                <a:solidFill>
                  <a:srgbClr val="17352D"/>
                </a:solidFill>
                <a:latin typeface="Arial"/>
              </a:defRPr>
            </a:pPr>
            <a:r>
              <a:t>Otherwise.</a:t>
            </a:r>
          </a:p>
        </p:txBody>
      </p:sp>
      <p:sp>
        <p:nvSpPr>
          <p:cNvPr id="11" name="Pr(Y = 1 | X) = f(X),   X = (X₁, …, X₁₃)."/>
          <p:cNvSpPr txBox="1"/>
          <p:nvPr/>
        </p:nvSpPr>
        <p:spPr>
          <a:xfrm>
            <a:off x="548640" y="3986784"/>
            <a:ext cx="5394960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52D"/>
                </a:solidFill>
                <a:latin typeface="Arial"/>
              </a:defRPr>
            </a:pPr>
            <a:r>
              <a:t>Pr(Y = 1 | X) = f(X),   X = (X₁, …, X₁₃).</a:t>
            </a:r>
          </a:p>
        </p:txBody>
      </p:sp>
      <p:sp>
        <p:nvSpPr>
          <p:cNvPr id="12" name="Deal design, conditions, track record and macroeconomic information observed at approval."/>
          <p:cNvSpPr txBox="1"/>
          <p:nvPr/>
        </p:nvSpPr>
        <p:spPr>
          <a:xfrm>
            <a:off x="548640" y="4572000"/>
            <a:ext cx="5394960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52D"/>
                </a:solidFill>
                <a:latin typeface="Arial"/>
              </a:defRPr>
            </a:pPr>
            <a:r>
              <a:t>Deal design, conditions, track record and macroeconomic information observed at approval.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605272"/>
            <a:ext cx="5394960" cy="502920"/>
          </a:xfrm>
          <a:prstGeom prst="rect">
            <a:avLst/>
          </a:prstGeom>
          <a:solidFill>
            <a:srgbClr val="F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urpose: prediction, not causal explanation."/>
          <p:cNvSpPr txBox="1"/>
          <p:nvPr/>
        </p:nvSpPr>
        <p:spPr>
          <a:xfrm>
            <a:off x="685800" y="5701284"/>
            <a:ext cx="512064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52D"/>
                </a:solidFill>
                <a:latin typeface="Arial"/>
              </a:defRPr>
            </a:pPr>
            <a:r>
              <a:t>Purpose: prediction, not causal explanation.</a:t>
            </a:r>
          </a:p>
        </p:txBody>
      </p:sp>
      <p:sp>
        <p:nvSpPr>
          <p:cNvPr id="15" name="Predictive framing: Shmueli (2010); James et al. (2013)."/>
          <p:cNvSpPr txBox="1"/>
          <p:nvPr/>
        </p:nvSpPr>
        <p:spPr>
          <a:xfrm>
            <a:off x="548640" y="621792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Predictive framing: Shmueli (2010); James et al. (2013).</a:t>
            </a:r>
          </a:p>
        </p:txBody>
      </p:sp>
      <p:sp>
        <p:nvSpPr>
          <p:cNvPr id="16" name="WHICH PROGRAMMES ENTER THE SAMPLE?"/>
          <p:cNvSpPr txBox="1"/>
          <p:nvPr/>
        </p:nvSpPr>
        <p:spPr>
          <a:xfrm>
            <a:off x="6446520" y="1078992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WHICH PROGRAMMES ENTER THE SAMPLE?</a:t>
            </a:r>
          </a:p>
        </p:txBody>
      </p:sp>
      <p:sp>
        <p:nvSpPr>
          <p:cNvPr id="17" name="1. Review-based facilities"/>
          <p:cNvSpPr txBox="1"/>
          <p:nvPr/>
        </p:nvSpPr>
        <p:spPr>
          <a:xfrm>
            <a:off x="6446520" y="1554480"/>
            <a:ext cx="5193792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650" b="1">
                <a:solidFill>
                  <a:srgbClr val="17352D"/>
                </a:solidFill>
                <a:latin typeface="Arial"/>
              </a:defRPr>
            </a:pPr>
            <a:r>
              <a:t>1. Review-based facilities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600">
                <a:solidFill>
                  <a:srgbClr val="17352D"/>
                </a:solidFill>
                <a:latin typeface="Arial"/>
              </a:defRPr>
            </a:pPr>
            <a:r>
              <a:t>SBA, EFF, ECF and SCF, including predecessors.</a:t>
            </a:r>
          </a:p>
        </p:txBody>
      </p:sp>
      <p:sp>
        <p:nvSpPr>
          <p:cNvPr id="18" name="2. Approval in 2002–2016"/>
          <p:cNvSpPr txBox="1"/>
          <p:nvPr/>
        </p:nvSpPr>
        <p:spPr>
          <a:xfrm>
            <a:off x="6446520" y="2386584"/>
            <a:ext cx="5193792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650" b="1">
                <a:solidFill>
                  <a:srgbClr val="17352D"/>
                </a:solidFill>
                <a:latin typeface="Arial"/>
              </a:defRPr>
            </a:pPr>
            <a:r>
              <a:t>2. Approval in 2002–2016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600">
                <a:solidFill>
                  <a:srgbClr val="17352D"/>
                </a:solidFill>
                <a:latin typeface="Arial"/>
              </a:defRPr>
            </a:pPr>
            <a:r>
              <a:t>MONA review records start in 2002.</a:t>
            </a:r>
          </a:p>
        </p:txBody>
      </p:sp>
      <p:sp>
        <p:nvSpPr>
          <p:cNvPr id="19" name="3. Money at stake"/>
          <p:cNvSpPr txBox="1"/>
          <p:nvPr/>
        </p:nvSpPr>
        <p:spPr>
          <a:xfrm>
            <a:off x="6446520" y="3218688"/>
            <a:ext cx="5193792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650" b="1">
                <a:solidFill>
                  <a:srgbClr val="17352D"/>
                </a:solidFill>
                <a:latin typeface="Arial"/>
              </a:defRPr>
            </a:pPr>
            <a:r>
              <a:t>3. Money at stake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600">
                <a:solidFill>
                  <a:srgbClr val="17352D"/>
                </a:solidFill>
                <a:latin typeface="Arial"/>
              </a:defRPr>
            </a:pPr>
            <a:r>
              <a:t>Non-precautionary arrangements with positive drawings.</a:t>
            </a:r>
          </a:p>
        </p:txBody>
      </p:sp>
      <p:sp>
        <p:nvSpPr>
          <p:cNvPr id="20" name="4. Observed outcome"/>
          <p:cNvSpPr txBox="1"/>
          <p:nvPr/>
        </p:nvSpPr>
        <p:spPr>
          <a:xfrm>
            <a:off x="6446520" y="4050791"/>
            <a:ext cx="5193792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650" b="1">
                <a:solidFill>
                  <a:srgbClr val="17352D"/>
                </a:solidFill>
                <a:latin typeface="Arial"/>
              </a:defRPr>
            </a:pPr>
            <a:r>
              <a:t>4. Observed outcome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600">
                <a:solidFill>
                  <a:srgbClr val="17352D"/>
                </a:solidFill>
                <a:latin typeface="Arial"/>
              </a:defRPr>
            </a:pPr>
            <a:r>
              <a:t>Matched review records.</a:t>
            </a:r>
          </a:p>
        </p:txBody>
      </p:sp>
      <p:sp>
        <p:nvSpPr>
          <p:cNvPr id="21" name="5. Blends merged"/>
          <p:cNvSpPr txBox="1"/>
          <p:nvPr/>
        </p:nvSpPr>
        <p:spPr>
          <a:xfrm>
            <a:off x="6446520" y="4882896"/>
            <a:ext cx="5193792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650" b="1">
                <a:solidFill>
                  <a:srgbClr val="17352D"/>
                </a:solidFill>
                <a:latin typeface="Arial"/>
              </a:defRPr>
            </a:pPr>
            <a:r>
              <a:t>5. Blends merged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600">
                <a:solidFill>
                  <a:srgbClr val="17352D"/>
                </a:solidFill>
                <a:latin typeface="Arial"/>
              </a:defRPr>
            </a:pPr>
            <a:r>
              <a:t>Same country and approval date count as one programme.</a:t>
            </a:r>
          </a:p>
        </p:txBody>
      </p:sp>
      <p:sp>
        <p:nvSpPr>
          <p:cNvPr id="22" name="Earlier risk flags could help calibrate conditionality and inform sovereign-risk pricing."/>
          <p:cNvSpPr txBox="1"/>
          <p:nvPr/>
        </p:nvSpPr>
        <p:spPr>
          <a:xfrm>
            <a:off x="6446520" y="5916168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Earlier risk flags could help calibrate conditionality and inform sovereign-risk pricing.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om raw records to programme-level data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From raw records to programme-level data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3751384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4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4/13</a:t>
            </a:r>
          </a:p>
        </p:txBody>
      </p:sp>
      <p:sp>
        <p:nvSpPr>
          <p:cNvPr id="6" name="Machine Learning in Finance  /  Data and features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Data and features</a:t>
            </a:r>
          </a:p>
        </p:txBody>
      </p:sp>
      <p:sp>
        <p:nvSpPr>
          <p:cNvPr id="7" name="DATA SOURCES AND THEIR ROLES"/>
          <p:cNvSpPr txBox="1"/>
          <p:nvPr/>
        </p:nvSpPr>
        <p:spPr>
          <a:xfrm>
            <a:off x="548640" y="1078992"/>
            <a:ext cx="669340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DATA SOURCES AND THEIR ROLES</a:t>
            </a:r>
          </a:p>
        </p:txBody>
      </p:sp>
      <p:graphicFrame>
        <p:nvGraphicFramePr>
          <p:cNvPr id="8" name="Editable data table"/>
          <p:cNvGraphicFramePr>
            <a:graphicFrameLocks noGrp="1"/>
          </p:cNvGraphicFramePr>
          <p:nvPr/>
        </p:nvGraphicFramePr>
        <p:xfrm>
          <a:off x="548640" y="1536192"/>
          <a:ext cx="6675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248"/>
                <a:gridCol w="4690872"/>
              </a:tblGrid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Source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Information collected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IMF commitments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Dates, approved and drawn amounts, access as a share of quota, facility type.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MONA reviews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Scheduled and completed reviews; construction of the outcome.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MONA conditions and purchases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Structural conditions, prior actions and candidate front-loading measures.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MONA economic indicators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Approval-snapshot growth, inflation and current account.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WEO / WDI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WEO (Apr. 2026): debt and net lending. WDI: growth / inflation fallback considered. Final macro inputs use MONA.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48640" y="1536192"/>
            <a:ext cx="6675119" cy="0"/>
          </a:xfrm>
          <a:prstGeom prst="line">
            <a:avLst/>
          </a:prstGeom>
          <a:ln w="1397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1938528"/>
            <a:ext cx="6675119" cy="0"/>
          </a:xfrm>
          <a:prstGeom prst="line">
            <a:avLst/>
          </a:prstGeom>
          <a:ln w="889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6062471"/>
            <a:ext cx="6675119" cy="0"/>
          </a:xfrm>
          <a:prstGeom prst="line">
            <a:avLst/>
          </a:prstGeom>
          <a:ln w="1397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MF (2026a–c); World Bank (2026). Revised WEO fiscal data are excluded from the prediction"/>
          <p:cNvSpPr txBox="1"/>
          <p:nvPr/>
        </p:nvSpPr>
        <p:spPr>
          <a:xfrm>
            <a:off x="548640" y="6153912"/>
            <a:ext cx="66842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IMF (2026a–c); World Bank (2026). Revised WEO fiscal data are excluded from the prediction inputs.</a:t>
            </a:r>
          </a:p>
        </p:txBody>
      </p:sp>
      <p:sp>
        <p:nvSpPr>
          <p:cNvPr id="13" name="CONSTRUCTION PIPELINE"/>
          <p:cNvSpPr txBox="1"/>
          <p:nvPr/>
        </p:nvSpPr>
        <p:spPr>
          <a:xfrm>
            <a:off x="7818120" y="1078992"/>
            <a:ext cx="382219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CONSTRUCTION PIPELINE</a:t>
            </a:r>
          </a:p>
        </p:txBody>
      </p:sp>
      <p:sp>
        <p:nvSpPr>
          <p:cNvPr id="14" name="1,576"/>
          <p:cNvSpPr txBox="1"/>
          <p:nvPr/>
        </p:nvSpPr>
        <p:spPr>
          <a:xfrm>
            <a:off x="7818120" y="1655064"/>
            <a:ext cx="3822191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843D"/>
                </a:solidFill>
                <a:latin typeface="Arial"/>
              </a:defRPr>
            </a:pPr>
            <a:r>
              <a:t>1,576</a:t>
            </a:r>
          </a:p>
        </p:txBody>
      </p:sp>
      <p:sp>
        <p:nvSpPr>
          <p:cNvPr id="15" name="Raw arrangements"/>
          <p:cNvSpPr txBox="1"/>
          <p:nvPr/>
        </p:nvSpPr>
        <p:spPr>
          <a:xfrm>
            <a:off x="7818120" y="2377440"/>
            <a:ext cx="3822191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52D"/>
                </a:solidFill>
                <a:latin typeface="Arial"/>
              </a:defRPr>
            </a:pPr>
            <a:r>
              <a:t>Raw arrangements</a:t>
            </a:r>
          </a:p>
        </p:txBody>
      </p:sp>
      <p:sp>
        <p:nvSpPr>
          <p:cNvPr id="16" name="Five raw files; no shared identifier"/>
          <p:cNvSpPr txBox="1"/>
          <p:nvPr/>
        </p:nvSpPr>
        <p:spPr>
          <a:xfrm>
            <a:off x="7818120" y="2706624"/>
            <a:ext cx="3822191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60716B"/>
                </a:solidFill>
                <a:latin typeface="Arial"/>
              </a:defRPr>
            </a:pPr>
            <a:r>
              <a:t>Five raw files; no shared identifier</a:t>
            </a:r>
          </a:p>
        </p:txBody>
      </p:sp>
      <p:sp>
        <p:nvSpPr>
          <p:cNvPr id="17" name="Link"/>
          <p:cNvSpPr txBox="1"/>
          <p:nvPr/>
        </p:nvSpPr>
        <p:spPr>
          <a:xfrm>
            <a:off x="7818120" y="3227832"/>
            <a:ext cx="3822191" cy="987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Link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By country and closest approval date within ±60 days.</a:t>
            </a:r>
          </a:p>
        </p:txBody>
      </p:sp>
      <p:sp>
        <p:nvSpPr>
          <p:cNvPr id="18" name="Merge blends"/>
          <p:cNvSpPr txBox="1"/>
          <p:nvPr/>
        </p:nvSpPr>
        <p:spPr>
          <a:xfrm>
            <a:off x="7818120" y="4343400"/>
            <a:ext cx="3822191" cy="1033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Merge blends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Compare approval-day review schedules with completed reviews.</a:t>
            </a:r>
          </a:p>
        </p:txBody>
      </p:sp>
      <p:sp>
        <p:nvSpPr>
          <p:cNvPr id="19" name="173"/>
          <p:cNvSpPr txBox="1"/>
          <p:nvPr/>
        </p:nvSpPr>
        <p:spPr>
          <a:xfrm>
            <a:off x="7818120" y="5486400"/>
            <a:ext cx="382219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843D"/>
                </a:solidFill>
                <a:latin typeface="Arial"/>
              </a:defRPr>
            </a:pPr>
            <a:r>
              <a:t>173</a:t>
            </a:r>
          </a:p>
        </p:txBody>
      </p:sp>
      <p:sp>
        <p:nvSpPr>
          <p:cNvPr id="20" name="Programme observations"/>
          <p:cNvSpPr txBox="1"/>
          <p:nvPr/>
        </p:nvSpPr>
        <p:spPr>
          <a:xfrm>
            <a:off x="8851392" y="557784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52D"/>
                </a:solidFill>
                <a:latin typeface="Arial"/>
              </a:defRPr>
            </a:pPr>
            <a:r>
              <a:t>Programme observations</a:t>
            </a:r>
          </a:p>
        </p:txBody>
      </p:sp>
      <p:sp>
        <p:nvSpPr>
          <p:cNvPr id="21" name="82 interrupted / 91 completed"/>
          <p:cNvSpPr txBox="1"/>
          <p:nvPr/>
        </p:nvSpPr>
        <p:spPr>
          <a:xfrm>
            <a:off x="7818120" y="6108192"/>
            <a:ext cx="382219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82 interrupted / 91 completed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hirteen inputs, all known at approval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Thirteen inputs, all known at approval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4689230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5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5/13</a:t>
            </a:r>
          </a:p>
        </p:txBody>
      </p:sp>
      <p:sp>
        <p:nvSpPr>
          <p:cNvPr id="6" name="Machine Learning in Finance  /  Data and features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Data and features</a:t>
            </a:r>
          </a:p>
        </p:txBody>
      </p:sp>
      <p:sp>
        <p:nvSpPr>
          <p:cNvPr id="7" name="01 / DEAL DESIGN · 5 INPUTS"/>
          <p:cNvSpPr txBox="1"/>
          <p:nvPr/>
        </p:nvSpPr>
        <p:spPr>
          <a:xfrm>
            <a:off x="548640" y="1106424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01 / DEAL DESIGN · 5 INPUTS</a:t>
            </a:r>
          </a:p>
        </p:txBody>
      </p:sp>
      <p:sp>
        <p:nvSpPr>
          <p:cNvPr id="8" name="Log access (% of quota); planned duration; scheduled reviews; concessional facility; exten"/>
          <p:cNvSpPr txBox="1"/>
          <p:nvPr/>
        </p:nvSpPr>
        <p:spPr>
          <a:xfrm>
            <a:off x="548640" y="1508760"/>
            <a:ext cx="5202936" cy="1014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52D"/>
                </a:solidFill>
                <a:latin typeface="Arial"/>
              </a:defRPr>
            </a:pPr>
            <a:r>
              <a:t>Log access (% of quota); planned duration; scheduled reviews; concessional facility; extended facility.</a:t>
            </a:r>
          </a:p>
        </p:txBody>
      </p:sp>
      <p:sp>
        <p:nvSpPr>
          <p:cNvPr id="9" name="02 / CONDITIONALITY · 2 INPUTS"/>
          <p:cNvSpPr txBox="1"/>
          <p:nvPr/>
        </p:nvSpPr>
        <p:spPr>
          <a:xfrm>
            <a:off x="548640" y="2770632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02 / CONDITIONALITY · 2 INPUTS</a:t>
            </a:r>
          </a:p>
        </p:txBody>
      </p:sp>
      <p:sp>
        <p:nvSpPr>
          <p:cNvPr id="10" name="Structural conditions and prior actions at approval."/>
          <p:cNvSpPr txBox="1"/>
          <p:nvPr/>
        </p:nvSpPr>
        <p:spPr>
          <a:xfrm>
            <a:off x="548640" y="3172968"/>
            <a:ext cx="5202936" cy="1014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52D"/>
                </a:solidFill>
                <a:latin typeface="Arial"/>
              </a:defRPr>
            </a:pPr>
            <a:r>
              <a:t>Structural conditions and prior actions at approval.</a:t>
            </a:r>
          </a:p>
        </p:txBody>
      </p:sp>
      <p:sp>
        <p:nvSpPr>
          <p:cNvPr id="11" name="03 / TRACK RECORD · 3 INPUTS"/>
          <p:cNvSpPr txBox="1"/>
          <p:nvPr/>
        </p:nvSpPr>
        <p:spPr>
          <a:xfrm>
            <a:off x="6437376" y="1106424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03 / TRACK RECORD · 3 INPUTS</a:t>
            </a:r>
          </a:p>
        </p:txBody>
      </p:sp>
      <p:sp>
        <p:nvSpPr>
          <p:cNvPr id="12" name="Prior programmes over 20 years; time since the previous programme; no previous track recor"/>
          <p:cNvSpPr txBox="1"/>
          <p:nvPr/>
        </p:nvSpPr>
        <p:spPr>
          <a:xfrm>
            <a:off x="6437376" y="1508760"/>
            <a:ext cx="5202936" cy="1014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52D"/>
                </a:solidFill>
                <a:latin typeface="Arial"/>
              </a:defRPr>
            </a:pPr>
            <a:r>
              <a:t>Prior programmes over 20 years; time since the previous programme; no previous track record.</a:t>
            </a:r>
          </a:p>
        </p:txBody>
      </p:sp>
      <p:sp>
        <p:nvSpPr>
          <p:cNvPr id="13" name="04 / MACROECONOMY · 3 INPUTS"/>
          <p:cNvSpPr txBox="1"/>
          <p:nvPr/>
        </p:nvSpPr>
        <p:spPr>
          <a:xfrm>
            <a:off x="6437376" y="2770632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04 / MACROECONOMY · 3 INPUTS</a:t>
            </a:r>
          </a:p>
        </p:txBody>
      </p:sp>
      <p:sp>
        <p:nvSpPr>
          <p:cNvPr id="14" name="Real GDP growth; CPI inflation; current account as a share of GDP, from the approval snaps"/>
          <p:cNvSpPr txBox="1"/>
          <p:nvPr/>
        </p:nvSpPr>
        <p:spPr>
          <a:xfrm>
            <a:off x="6437376" y="3172968"/>
            <a:ext cx="5202936" cy="1014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52D"/>
                </a:solidFill>
                <a:latin typeface="Arial"/>
              </a:defRPr>
            </a:pPr>
            <a:r>
              <a:t>Real GDP growth; CPI inflation; current account as a share of GDP, from the approval snapshot.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35424"/>
            <a:ext cx="11091672" cy="1517904"/>
          </a:xfrm>
          <a:prstGeom prst="rect">
            <a:avLst/>
          </a:prstGeom>
          <a:solidFill>
            <a:srgbClr val="F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WELVE CANDIDATE ENTRIES EXCLUDED"/>
          <p:cNvSpPr txBox="1"/>
          <p:nvPr/>
        </p:nvSpPr>
        <p:spPr>
          <a:xfrm>
            <a:off x="713232" y="4709160"/>
            <a:ext cx="107624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TWELVE CANDIDATE ENTRIES EXCLUDED</a:t>
            </a:r>
          </a:p>
        </p:txBody>
      </p:sp>
      <p:sp>
        <p:nvSpPr>
          <p:cNvPr id="17" name="6 look-ahead"/>
          <p:cNvSpPr txBox="1"/>
          <p:nvPr/>
        </p:nvSpPr>
        <p:spPr>
          <a:xfrm>
            <a:off x="713232" y="5111496"/>
            <a:ext cx="252374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7352D"/>
                </a:solidFill>
                <a:latin typeface="Arial"/>
              </a:defRPr>
            </a:pPr>
            <a:r>
              <a:t>6 look-ahead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550">
                <a:solidFill>
                  <a:srgbClr val="17352D"/>
                </a:solidFill>
                <a:latin typeface="Arial"/>
              </a:defRPr>
            </a:pPr>
            <a:r>
              <a:t>Post-approval outcomes and revised data</a:t>
            </a:r>
          </a:p>
        </p:txBody>
      </p:sp>
      <p:sp>
        <p:nvSpPr>
          <p:cNvPr id="18" name="4 redundant / fragile"/>
          <p:cNvSpPr txBox="1"/>
          <p:nvPr/>
        </p:nvSpPr>
        <p:spPr>
          <a:xfrm>
            <a:off x="3429000" y="5111496"/>
            <a:ext cx="252374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7352D"/>
                </a:solidFill>
                <a:latin typeface="Arial"/>
              </a:defRPr>
            </a:pPr>
            <a:r>
              <a:t>4 redundant / fragile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550">
                <a:solidFill>
                  <a:srgbClr val="17352D"/>
                </a:solidFill>
                <a:latin typeface="Arial"/>
              </a:defRPr>
            </a:pPr>
            <a:r>
              <a:t>Duplicate design or history measures</a:t>
            </a:r>
          </a:p>
        </p:txBody>
      </p:sp>
      <p:sp>
        <p:nvSpPr>
          <p:cNvPr id="19" name="1 missing-data"/>
          <p:cNvSpPr txBox="1"/>
          <p:nvPr/>
        </p:nvSpPr>
        <p:spPr>
          <a:xfrm>
            <a:off x="6144768" y="5111496"/>
            <a:ext cx="252374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7352D"/>
                </a:solidFill>
                <a:latin typeface="Arial"/>
              </a:defRPr>
            </a:pPr>
            <a:r>
              <a:t>1 missing-data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550">
                <a:solidFill>
                  <a:srgbClr val="17352D"/>
                </a:solidFill>
                <a:latin typeface="Arial"/>
              </a:defRPr>
            </a:pPr>
            <a:r>
              <a:t>Fiscal indicators with too many gaps</a:t>
            </a:r>
          </a:p>
        </p:txBody>
      </p:sp>
      <p:sp>
        <p:nvSpPr>
          <p:cNvPr id="20" name="1 identifier group"/>
          <p:cNvSpPr txBox="1"/>
          <p:nvPr/>
        </p:nvSpPr>
        <p:spPr>
          <a:xfrm>
            <a:off x="8860536" y="5111496"/>
            <a:ext cx="252374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7352D"/>
                </a:solidFill>
                <a:latin typeface="Arial"/>
              </a:defRPr>
            </a:pPr>
            <a:r>
              <a:t>1 identifier group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550">
                <a:solidFill>
                  <a:srgbClr val="17352D"/>
                </a:solidFill>
                <a:latin typeface="Arial"/>
              </a:defRPr>
            </a:pPr>
            <a:r>
              <a:t>Country and approval dates</a:t>
            </a:r>
          </a:p>
        </p:txBody>
      </p:sp>
      <p:sp>
        <p:nvSpPr>
          <p:cNvPr id="21" name="Output: interrupted (0/1). Feature definitions and exclusion audit: Data_Prep/01_data.R."/>
          <p:cNvSpPr txBox="1"/>
          <p:nvPr/>
        </p:nvSpPr>
        <p:spPr>
          <a:xfrm>
            <a:off x="548640" y="6208776"/>
            <a:ext cx="110916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Output: interrupted (0/1). Feature definitions and exclusion audit: Data_Prep/01_data.R.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xploration: programme design stands out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Exploration: programme design stands 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5627076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6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6/13</a:t>
            </a:r>
          </a:p>
        </p:txBody>
      </p:sp>
      <p:sp>
        <p:nvSpPr>
          <p:cNvPr id="6" name="Machine Learning in Finance  /  Data and features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Data and features</a:t>
            </a:r>
          </a:p>
        </p:txBody>
      </p:sp>
      <p:sp>
        <p:nvSpPr>
          <p:cNvPr id="7" name="INTERRUPTION RATE BY FACILITY"/>
          <p:cNvSpPr txBox="1"/>
          <p:nvPr/>
        </p:nvSpPr>
        <p:spPr>
          <a:xfrm>
            <a:off x="548640" y="109728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INTERRUPTION RATE BY FACILITY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" y="1508760"/>
          <a:ext cx="4736592" cy="23957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elected facilities; rounded rates reported in the original presentation."/>
          <p:cNvSpPr txBox="1"/>
          <p:nvPr/>
        </p:nvSpPr>
        <p:spPr>
          <a:xfrm>
            <a:off x="548640" y="4142232"/>
            <a:ext cx="480974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Selected facilities; rounded rates reported in the original presentation.</a:t>
            </a:r>
          </a:p>
        </p:txBody>
      </p:sp>
      <p:sp>
        <p:nvSpPr>
          <p:cNvPr id="10" name="Interruption rises from 38% in 2002–07 to 61% in 2014–16."/>
          <p:cNvSpPr txBox="1"/>
          <p:nvPr/>
        </p:nvSpPr>
        <p:spPr>
          <a:xfrm>
            <a:off x="548640" y="4800600"/>
            <a:ext cx="4809744" cy="813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52D"/>
                </a:solidFill>
                <a:latin typeface="Arial"/>
              </a:defRPr>
            </a:pPr>
            <a:r>
              <a:t>Interruption rises from 38% in 2002–07 to 61% in 2014–16.</a:t>
            </a:r>
          </a:p>
        </p:txBody>
      </p:sp>
      <p:sp>
        <p:nvSpPr>
          <p:cNvPr id="11" name="More reviews, larger programmes"/>
          <p:cNvSpPr txBox="1"/>
          <p:nvPr/>
        </p:nvSpPr>
        <p:spPr>
          <a:xfrm>
            <a:off x="5861304" y="1097280"/>
            <a:ext cx="5779008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More reviews, larger programmes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Interrupted programmes have 7.3 scheduled reviews versus 5.9; access is larger and concessional / extended facilities are less common (p ≤ 0.004).</a:t>
            </a:r>
          </a:p>
        </p:txBody>
      </p:sp>
      <p:sp>
        <p:nvSpPr>
          <p:cNvPr id="12" name="Weak individual correlations"/>
          <p:cNvSpPr txBox="1"/>
          <p:nvPr/>
        </p:nvSpPr>
        <p:spPr>
          <a:xfrm>
            <a:off x="5861304" y="2734056"/>
            <a:ext cx="5779008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Weak individual correlations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Reviews: 0.31; access: 0.25; concessional: −0.22. Conditions, macro and track record show no clear outcome differences.</a:t>
            </a:r>
          </a:p>
        </p:txBody>
      </p:sp>
      <p:sp>
        <p:nvSpPr>
          <p:cNvPr id="13" name="Overlap and non-linearity"/>
          <p:cNvSpPr txBox="1"/>
          <p:nvPr/>
        </p:nvSpPr>
        <p:spPr>
          <a:xfrm>
            <a:off x="5861304" y="4270248"/>
            <a:ext cx="5779008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Overlap and non-linearity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Concessional–extended correlation: 0.72. Interruption across access quartiles: 31 / 52 / 41 / 67%.</a:t>
            </a:r>
          </a:p>
        </p:txBody>
      </p:sp>
      <p:sp>
        <p:nvSpPr>
          <p:cNvPr id="14" name="These patterns motivate testing flexible models alongside a linear log-odds benchmark."/>
          <p:cNvSpPr txBox="1"/>
          <p:nvPr/>
        </p:nvSpPr>
        <p:spPr>
          <a:xfrm>
            <a:off x="5861304" y="5504688"/>
            <a:ext cx="5779008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7352D"/>
                </a:solidFill>
                <a:latin typeface="Arial"/>
              </a:defRPr>
            </a:pPr>
            <a:r>
              <a:t>These patterns motivate testing flexible models alongside a linear log-odds benchmark.</a:t>
            </a:r>
          </a:p>
        </p:txBody>
      </p:sp>
      <p:sp>
        <p:nvSpPr>
          <p:cNvPr id="15" name="Descriptive evidence: full sample, n = 173; these associations are not causal effects."/>
          <p:cNvSpPr txBox="1"/>
          <p:nvPr/>
        </p:nvSpPr>
        <p:spPr>
          <a:xfrm>
            <a:off x="548640" y="6236208"/>
            <a:ext cx="110916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Descriptive evidence: full sample, n = 173; these associations are not causal effects.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andom forest: tuning is relatively flat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Random forest: tuning is relatively flat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6564923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7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7/13</a:t>
            </a:r>
          </a:p>
        </p:txBody>
      </p:sp>
      <p:sp>
        <p:nvSpPr>
          <p:cNvPr id="6" name="Machine Learning in Finance  /  Random forest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Random forest</a:t>
            </a:r>
          </a:p>
        </p:txBody>
      </p:sp>
      <p:sp>
        <p:nvSpPr>
          <p:cNvPr id="7" name="24 settings: 6 mtry values × 4 tree counts; balanced accuracy under three validation schem"/>
          <p:cNvSpPr txBox="1"/>
          <p:nvPr/>
        </p:nvSpPr>
        <p:spPr>
          <a:xfrm>
            <a:off x="548640" y="1051560"/>
            <a:ext cx="1109167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52D"/>
                </a:solidFill>
                <a:latin typeface="Arial"/>
              </a:defRPr>
            </a:pPr>
            <a:r>
              <a:t>24 settings: 6 mtry values × 4 tree counts; balanced accuracy under three validation schemes.</a:t>
            </a:r>
          </a:p>
        </p:txBody>
      </p:sp>
      <p:pic>
        <p:nvPicPr>
          <p:cNvPr id="8" name="rf_tuning.png" descr="rf tun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88" y="1581912"/>
            <a:ext cx="10348976" cy="4233672"/>
          </a:xfrm>
          <a:prstGeom prst="rect">
            <a:avLst/>
          </a:prstGeom>
        </p:spPr>
      </p:pic>
      <p:sp>
        <p:nvSpPr>
          <p:cNvPr id="9" name="Flat grid. Curves cross; scores stay within roughly four to seven percentage points. No se"/>
          <p:cNvSpPr txBox="1"/>
          <p:nvPr/>
        </p:nvSpPr>
        <p:spPr>
          <a:xfrm>
            <a:off x="548640" y="5852160"/>
            <a:ext cx="539496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17352D"/>
                </a:solidFill>
                <a:latin typeface="Arial"/>
              </a:defRPr>
            </a:pPr>
            <a:r>
              <a:t>Flat grid. Curves cross; scores stay within roughly four to seven percentage points. No setting dominates.</a:t>
            </a:r>
          </a:p>
        </p:txBody>
      </p:sp>
      <p:sp>
        <p:nvSpPr>
          <p:cNvPr id="10" name="Selected with country CV: 250 trees; mtry = 3; balanced accuracy 0.620."/>
          <p:cNvSpPr txBox="1"/>
          <p:nvPr/>
        </p:nvSpPr>
        <p:spPr>
          <a:xfrm>
            <a:off x="6400800" y="5852160"/>
            <a:ext cx="523951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17352D"/>
                </a:solidFill>
                <a:latin typeface="Arial"/>
              </a:defRPr>
            </a:pPr>
            <a:r>
              <a:t>Selected with country CV: 250 trees; mtry = 3; balanced accuracy 0.620.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andom forest: the test signal is weak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Random forest: the test signal is weak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7502769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8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8/13</a:t>
            </a:r>
          </a:p>
        </p:txBody>
      </p:sp>
      <p:sp>
        <p:nvSpPr>
          <p:cNvPr id="6" name="Machine Learning in Finance  /  Random forest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Random forest</a:t>
            </a:r>
          </a:p>
        </p:txBody>
      </p:sp>
      <p:sp>
        <p:nvSpPr>
          <p:cNvPr id="7" name="DEVELOPMENT AND TEST PERFORMANCE"/>
          <p:cNvSpPr txBox="1"/>
          <p:nvPr/>
        </p:nvSpPr>
        <p:spPr>
          <a:xfrm>
            <a:off x="548640" y="1078992"/>
            <a:ext cx="613562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DEVELOPMENT AND TEST PERFORMANCE</a:t>
            </a:r>
          </a:p>
        </p:txBody>
      </p:sp>
      <p:graphicFrame>
        <p:nvGraphicFramePr>
          <p:cNvPr id="8" name="Editable data table"/>
          <p:cNvGraphicFramePr>
            <a:graphicFrameLocks noGrp="1"/>
          </p:cNvGraphicFramePr>
          <p:nvPr/>
        </p:nvGraphicFramePr>
        <p:xfrm>
          <a:off x="548640" y="1554480"/>
          <a:ext cx="6144768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1024"/>
                <a:gridCol w="1115568"/>
                <a:gridCol w="1408176"/>
              </a:tblGrid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Balanced acc.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Development, out of fold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0.641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0.630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Test, final forest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0.500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0.508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Test, always interrupted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0.607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0.500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48640" y="1554480"/>
            <a:ext cx="6144767" cy="0"/>
          </a:xfrm>
          <a:prstGeom prst="line">
            <a:avLst/>
          </a:prstGeom>
          <a:ln w="1397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1975104"/>
            <a:ext cx="6144767" cy="0"/>
          </a:xfrm>
          <a:prstGeom prst="line">
            <a:avLst/>
          </a:prstGeom>
          <a:ln w="889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3429000"/>
            <a:ext cx="6144767" cy="0"/>
          </a:xfrm>
          <a:prstGeom prst="line">
            <a:avLst/>
          </a:prstGeom>
          <a:ln w="1397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rrectly identified on the test set"/>
          <p:cNvSpPr txBox="1"/>
          <p:nvPr/>
        </p:nvSpPr>
        <p:spPr>
          <a:xfrm>
            <a:off x="548640" y="3749039"/>
            <a:ext cx="6135624" cy="1033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Correctly identified on the test set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8 of 17 interrupted programmes; 6 of 11 completed programmes.</a:t>
            </a:r>
          </a:p>
        </p:txBody>
      </p:sp>
      <p:sp>
        <p:nvSpPr>
          <p:cNvPr id="13" name="Development scores use out-of-fold predictions; final performance is measured on later pro"/>
          <p:cNvSpPr txBox="1"/>
          <p:nvPr/>
        </p:nvSpPr>
        <p:spPr>
          <a:xfrm>
            <a:off x="548640" y="4901184"/>
            <a:ext cx="6135624" cy="85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52D"/>
                </a:solidFill>
                <a:latin typeface="Arial"/>
              </a:defRPr>
            </a:pPr>
            <a:r>
              <a:t>Development scores use out-of-fold predictions; final performance is measured on later programmes.</a:t>
            </a:r>
          </a:p>
        </p:txBody>
      </p:sp>
      <p:sp>
        <p:nvSpPr>
          <p:cNvPr id="14" name="SUBSTANTIAL UNCERTAINTY"/>
          <p:cNvSpPr txBox="1"/>
          <p:nvPr/>
        </p:nvSpPr>
        <p:spPr>
          <a:xfrm>
            <a:off x="7360920" y="1078992"/>
            <a:ext cx="42793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SUBSTANTIAL UNCERTAINTY</a:t>
            </a:r>
          </a:p>
        </p:txBody>
      </p:sp>
      <p:sp>
        <p:nvSpPr>
          <p:cNvPr id="15" name="Threshold = 0.51"/>
          <p:cNvSpPr txBox="1"/>
          <p:nvPr/>
        </p:nvSpPr>
        <p:spPr>
          <a:xfrm>
            <a:off x="7360920" y="1682496"/>
            <a:ext cx="427939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843D"/>
                </a:solidFill>
                <a:latin typeface="Arial"/>
              </a:defRPr>
            </a:pPr>
            <a:r>
              <a:t>Threshold = 0.51</a:t>
            </a:r>
          </a:p>
        </p:txBody>
      </p:sp>
      <p:sp>
        <p:nvSpPr>
          <p:cNvPr id="16" name="Selected using development out-of-fold predictions."/>
          <p:cNvSpPr txBox="1"/>
          <p:nvPr/>
        </p:nvSpPr>
        <p:spPr>
          <a:xfrm>
            <a:off x="7360920" y="2267712"/>
            <a:ext cx="427939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52D"/>
                </a:solidFill>
                <a:latin typeface="Arial"/>
              </a:defRPr>
            </a:pPr>
            <a:r>
              <a:t>Selected using development out-of-fold predictions.</a:t>
            </a:r>
          </a:p>
        </p:txBody>
      </p:sp>
      <p:sp>
        <p:nvSpPr>
          <p:cNvPr id="17" name="28 test programmes"/>
          <p:cNvSpPr txBox="1"/>
          <p:nvPr/>
        </p:nvSpPr>
        <p:spPr>
          <a:xfrm>
            <a:off x="7360920" y="3483864"/>
            <a:ext cx="427939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843D"/>
                </a:solidFill>
                <a:latin typeface="Arial"/>
              </a:defRPr>
            </a:pPr>
            <a:r>
              <a:t>28 test programmes</a:t>
            </a:r>
          </a:p>
        </p:txBody>
      </p:sp>
      <p:sp>
        <p:nvSpPr>
          <p:cNvPr id="18" name="One additional correct prediction changes balanced accuracy by approximately 0.03–0.05."/>
          <p:cNvSpPr txBox="1"/>
          <p:nvPr/>
        </p:nvSpPr>
        <p:spPr>
          <a:xfrm>
            <a:off x="7360920" y="4069080"/>
            <a:ext cx="4279392" cy="932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52D"/>
                </a:solidFill>
                <a:latin typeface="Arial"/>
              </a:defRPr>
            </a:pPr>
            <a:r>
              <a:t>One additional correct prediction changes balanced accuracy by approximately 0.03–0.05.</a:t>
            </a:r>
          </a:p>
        </p:txBody>
      </p:sp>
      <p:sp>
        <p:nvSpPr>
          <p:cNvPr id="19" name="With only 28 test observations, the result is sensitive to random variation."/>
          <p:cNvSpPr txBox="1"/>
          <p:nvPr/>
        </p:nvSpPr>
        <p:spPr>
          <a:xfrm>
            <a:off x="7360920" y="5148072"/>
            <a:ext cx="4279392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52D"/>
                </a:solidFill>
                <a:latin typeface="Arial"/>
              </a:defRPr>
            </a:pPr>
            <a:r>
              <a:t>With only 28 test observations, the result is sensitive to random variation.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70448"/>
            <a:ext cx="11091672" cy="530352"/>
          </a:xfrm>
          <a:prstGeom prst="rect">
            <a:avLst/>
          </a:prstGeom>
          <a:solidFill>
            <a:srgbClr val="F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he development signal does not translate into a reliable test-set edge over chance."/>
          <p:cNvSpPr txBox="1"/>
          <p:nvPr/>
        </p:nvSpPr>
        <p:spPr>
          <a:xfrm>
            <a:off x="685800" y="5966460"/>
            <a:ext cx="10817352" cy="3840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52D"/>
                </a:solidFill>
                <a:latin typeface="Arial"/>
              </a:defRPr>
            </a:pPr>
            <a:r>
              <a:t>The development signal does not translate into a reliable test-set edge over chance.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andom forest: programme design leads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Random forest: programme design leads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8440615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9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9/13</a:t>
            </a:r>
          </a:p>
        </p:txBody>
      </p:sp>
      <p:sp>
        <p:nvSpPr>
          <p:cNvPr id="6" name="Machine Learning in Finance  /  Random forest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Random forest</a:t>
            </a:r>
          </a:p>
        </p:txBody>
      </p:sp>
      <p:pic>
        <p:nvPicPr>
          <p:cNvPr id="7" name="rf_importance.png" descr="rf import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629400" cy="4972050"/>
          </a:xfrm>
          <a:prstGeom prst="rect">
            <a:avLst/>
          </a:prstGeom>
        </p:spPr>
      </p:pic>
      <p:sp>
        <p:nvSpPr>
          <p:cNvPr id="8" name="Permutation importance: mean decrease in ordinary out-of-bag (OOB) accuracy, not balanced "/>
          <p:cNvSpPr txBox="1"/>
          <p:nvPr/>
        </p:nvSpPr>
        <p:spPr>
          <a:xfrm>
            <a:off x="548640" y="6108192"/>
            <a:ext cx="6629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Permutation importance: mean decrease in ordinary out-of-bag (OOB) accuracy, not balanced accuracy, after shuffling each predictor.</a:t>
            </a:r>
          </a:p>
        </p:txBody>
      </p:sp>
      <p:sp>
        <p:nvSpPr>
          <p:cNvPr id="9" name="THE STRONGEST PREDICTORS"/>
          <p:cNvSpPr txBox="1"/>
          <p:nvPr/>
        </p:nvSpPr>
        <p:spPr>
          <a:xfrm>
            <a:off x="7754112" y="1097280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THE STRONGEST PREDICTORS</a:t>
            </a:r>
          </a:p>
        </p:txBody>
      </p:sp>
      <p:sp>
        <p:nvSpPr>
          <p:cNvPr id="10" name="1.  Number of scheduled reviews"/>
          <p:cNvSpPr txBox="1"/>
          <p:nvPr/>
        </p:nvSpPr>
        <p:spPr>
          <a:xfrm>
            <a:off x="7754112" y="1700784"/>
            <a:ext cx="38862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52D"/>
                </a:solidFill>
                <a:latin typeface="Arial"/>
              </a:defRPr>
            </a:pPr>
            <a:r>
              <a:t>1.  Number of scheduled reviews</a:t>
            </a:r>
          </a:p>
        </p:txBody>
      </p:sp>
      <p:sp>
        <p:nvSpPr>
          <p:cNvPr id="11" name="2.  Extended facility indicator"/>
          <p:cNvSpPr txBox="1"/>
          <p:nvPr/>
        </p:nvSpPr>
        <p:spPr>
          <a:xfrm>
            <a:off x="7754112" y="2532888"/>
            <a:ext cx="38862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52D"/>
                </a:solidFill>
                <a:latin typeface="Arial"/>
              </a:defRPr>
            </a:pPr>
            <a:r>
              <a:t>2.  Extended facility indicator</a:t>
            </a:r>
          </a:p>
        </p:txBody>
      </p:sp>
      <p:sp>
        <p:nvSpPr>
          <p:cNvPr id="12" name="3.  Loan access (% of quota, log)"/>
          <p:cNvSpPr txBox="1"/>
          <p:nvPr/>
        </p:nvSpPr>
        <p:spPr>
          <a:xfrm>
            <a:off x="7754112" y="3364992"/>
            <a:ext cx="38862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52D"/>
                </a:solidFill>
                <a:latin typeface="Arial"/>
              </a:defRPr>
            </a:pPr>
            <a:r>
              <a:t>3.  Loan access (% of quota, log)</a:t>
            </a:r>
          </a:p>
        </p:txBody>
      </p:sp>
      <p:sp>
        <p:nvSpPr>
          <p:cNvPr id="13" name="Macro variables have little importance here; growth and inflation are at or below zero."/>
          <p:cNvSpPr txBox="1"/>
          <p:nvPr/>
        </p:nvSpPr>
        <p:spPr>
          <a:xfrm>
            <a:off x="7754112" y="4425696"/>
            <a:ext cx="3886200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52D"/>
                </a:solidFill>
                <a:latin typeface="Arial"/>
              </a:defRPr>
            </a:pPr>
            <a:r>
              <a:t>Macro variables have little importance here; growth and inflation are at or below zero.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54112" y="5669280"/>
            <a:ext cx="3886200" cy="722376"/>
          </a:xfrm>
          <a:prstGeom prst="rect">
            <a:avLst/>
          </a:prstGeom>
          <a:solidFill>
            <a:srgbClr val="F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mportance establishes neither direction nor causality."/>
          <p:cNvSpPr txBox="1"/>
          <p:nvPr/>
        </p:nvSpPr>
        <p:spPr>
          <a:xfrm>
            <a:off x="7891272" y="5765292"/>
            <a:ext cx="3611880" cy="576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52D"/>
                </a:solidFill>
                <a:latin typeface="Arial"/>
              </a:defRPr>
            </a:pPr>
            <a:r>
              <a:t>Importance establishes neither direction nor causality.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gistic regression: a transparent benchmark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Logistic regression: a transparent benchmark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9378461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0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10/13</a:t>
            </a:r>
          </a:p>
        </p:txBody>
      </p:sp>
      <p:sp>
        <p:nvSpPr>
          <p:cNvPr id="6" name="Machine Learning in Finance  /  Logistic regression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Logistic regression</a:t>
            </a:r>
          </a:p>
        </p:txBody>
      </p:sp>
      <p:sp>
        <p:nvSpPr>
          <p:cNvPr id="7" name="TEST-SET PERFORMANCE"/>
          <p:cNvSpPr txBox="1"/>
          <p:nvPr/>
        </p:nvSpPr>
        <p:spPr>
          <a:xfrm>
            <a:off x="548640" y="1078992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TEST-SET PERFORMANCE</a:t>
            </a:r>
          </a:p>
        </p:txBody>
      </p:sp>
      <p:graphicFrame>
        <p:nvGraphicFramePr>
          <p:cNvPr id="8" name="Editable data table"/>
          <p:cNvGraphicFramePr>
            <a:graphicFrameLocks noGrp="1"/>
          </p:cNvGraphicFramePr>
          <p:nvPr/>
        </p:nvGraphicFramePr>
        <p:xfrm>
          <a:off x="548640" y="1463040"/>
          <a:ext cx="5184648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7208"/>
                <a:gridCol w="1188720"/>
                <a:gridCol w="1188720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Logistic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Forest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0.536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0.500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Balanced accuracy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0.570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0.508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AUC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0.684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0.586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48640" y="1463040"/>
            <a:ext cx="5184648" cy="0"/>
          </a:xfrm>
          <a:prstGeom prst="line">
            <a:avLst/>
          </a:prstGeom>
          <a:ln w="1397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1801368"/>
            <a:ext cx="5184648" cy="0"/>
          </a:xfrm>
          <a:prstGeom prst="line">
            <a:avLst/>
          </a:prstGeom>
          <a:ln w="889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2788920"/>
            <a:ext cx="5184648" cy="0"/>
          </a:xfrm>
          <a:prstGeom prst="line">
            <a:avLst/>
          </a:prstGeom>
          <a:ln w="1397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logit_roc.png" descr="logit ro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701" y="3008376"/>
            <a:ext cx="3505668" cy="3255264"/>
          </a:xfrm>
          <a:prstGeom prst="rect">
            <a:avLst/>
          </a:prstGeom>
        </p:spPr>
      </p:pic>
      <p:sp>
        <p:nvSpPr>
          <p:cNvPr id="13" name="INTERPRETABILITY"/>
          <p:cNvSpPr txBox="1"/>
          <p:nvPr/>
        </p:nvSpPr>
        <p:spPr>
          <a:xfrm>
            <a:off x="6437376" y="1078992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INTERPRETABILITY</a:t>
            </a:r>
          </a:p>
        </p:txBody>
      </p:sp>
      <p:pic>
        <p:nvPicPr>
          <p:cNvPr id="14" name="logit_coefficients.png" descr="logit coeffici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343" y="1527048"/>
            <a:ext cx="4095000" cy="3547872"/>
          </a:xfrm>
          <a:prstGeom prst="rect">
            <a:avLst/>
          </a:prstGeom>
        </p:spPr>
      </p:pic>
      <p:sp>
        <p:nvSpPr>
          <p:cNvPr id="15" name="Logistic"/>
          <p:cNvSpPr txBox="1"/>
          <p:nvPr/>
        </p:nvSpPr>
        <p:spPr>
          <a:xfrm>
            <a:off x="6437376" y="5212080"/>
            <a:ext cx="5202936" cy="5394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17352D"/>
                </a:solidFill>
                <a:latin typeface="Arial"/>
              </a:defRPr>
            </a:pPr>
            <a:r>
              <a:t>Logistic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450">
                <a:solidFill>
                  <a:srgbClr val="17352D"/>
                </a:solidFill>
                <a:latin typeface="Arial"/>
              </a:defRPr>
            </a:pPr>
            <a:r>
              <a:t>Interpretable coefficient direction &amp; magnitude; less flexible.</a:t>
            </a:r>
          </a:p>
        </p:txBody>
      </p:sp>
      <p:sp>
        <p:nvSpPr>
          <p:cNvPr id="16" name="Forest"/>
          <p:cNvSpPr txBox="1"/>
          <p:nvPr/>
        </p:nvSpPr>
        <p:spPr>
          <a:xfrm>
            <a:off x="6437376" y="5833872"/>
            <a:ext cx="5202936" cy="5394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17352D"/>
                </a:solidFill>
                <a:latin typeface="Arial"/>
              </a:defRPr>
            </a:pPr>
            <a:r>
              <a:t>Forest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450">
                <a:solidFill>
                  <a:srgbClr val="17352D"/>
                </a:solidFill>
                <a:latin typeface="Arial"/>
              </a:defRPr>
            </a:pPr>
            <a:r>
              <a:t>Captures non-linearities; more flexible, harder to interpret.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eural network: small is enough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Neural network: small is enough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10316307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1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11/13</a:t>
            </a:r>
          </a:p>
        </p:txBody>
      </p:sp>
      <p:sp>
        <p:nvSpPr>
          <p:cNvPr id="6" name="Machine Learning in Finance  /  Neural network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Neural network</a:t>
            </a:r>
          </a:p>
        </p:txBody>
      </p:sp>
      <p:sp>
        <p:nvSpPr>
          <p:cNvPr id="7" name="COUNTRY-GROUPED 10-FOLD CROSS-VALIDATION"/>
          <p:cNvSpPr txBox="1"/>
          <p:nvPr/>
        </p:nvSpPr>
        <p:spPr>
          <a:xfrm>
            <a:off x="548640" y="1078992"/>
            <a:ext cx="6629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COUNTRY-GROUPED 10-FOLD CROSS-VALIDATION</a:t>
            </a:r>
          </a:p>
        </p:txBody>
      </p:sp>
      <p:pic>
        <p:nvPicPr>
          <p:cNvPr id="8" name="nn_tuning.png" descr="nn tun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84" y="1581912"/>
            <a:ext cx="6583390" cy="3995928"/>
          </a:xfrm>
          <a:prstGeom prst="rect">
            <a:avLst/>
          </a:prstGeom>
        </p:spPr>
      </p:pic>
      <p:sp>
        <p:nvSpPr>
          <p:cNvPr id="9" name="One hidden layer. Size: 1, 2, 3 or 5 neurons; weight decay: 0.01, 0.1, 0.5 or 1."/>
          <p:cNvSpPr txBox="1"/>
          <p:nvPr/>
        </p:nvSpPr>
        <p:spPr>
          <a:xfrm>
            <a:off x="548640" y="5669280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One hidden layer. Size: 1, 2, 3 or 5 neurons; weight decay: 0.01, 0.1, 0.5 or 1.</a:t>
            </a:r>
          </a:p>
        </p:txBody>
      </p:sp>
      <p:sp>
        <p:nvSpPr>
          <p:cNvPr id="10" name="A compact network performs best"/>
          <p:cNvSpPr txBox="1"/>
          <p:nvPr/>
        </p:nvSpPr>
        <p:spPr>
          <a:xfrm>
            <a:off x="7635240" y="1097280"/>
            <a:ext cx="4005072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7352D"/>
                </a:solidFill>
                <a:latin typeface="Arial"/>
              </a:defRPr>
            </a:pPr>
            <a:r>
              <a:t>A compact network performs best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650">
                <a:solidFill>
                  <a:srgbClr val="17352D"/>
                </a:solidFill>
                <a:latin typeface="Arial"/>
              </a:defRPr>
            </a:pPr>
            <a:r>
              <a:t>Two neurons and a light penalty (decay 0.01) give the highest tuning score, about 0.65.</a:t>
            </a:r>
          </a:p>
        </p:txBody>
      </p:sp>
      <p:sp>
        <p:nvSpPr>
          <p:cNvPr id="11" name="More capacity can hurt"/>
          <p:cNvSpPr txBox="1"/>
          <p:nvPr/>
        </p:nvSpPr>
        <p:spPr>
          <a:xfrm>
            <a:off x="7635240" y="2761488"/>
            <a:ext cx="4005072" cy="1335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7352D"/>
                </a:solidFill>
                <a:latin typeface="Arial"/>
              </a:defRPr>
            </a:pPr>
            <a:r>
              <a:t>More capacity can hurt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650">
                <a:solidFill>
                  <a:srgbClr val="17352D"/>
                </a:solidFill>
                <a:latin typeface="Arial"/>
              </a:defRPr>
            </a:pPr>
            <a:r>
              <a:t>With light regularisation, increasing from two to five neurons reduces the score to about 0.54.</a:t>
            </a:r>
          </a:p>
        </p:txBody>
      </p:sp>
      <p:sp>
        <p:nvSpPr>
          <p:cNvPr id="12" name="Heavy regularisation underfits"/>
          <p:cNvSpPr txBox="1"/>
          <p:nvPr/>
        </p:nvSpPr>
        <p:spPr>
          <a:xfrm>
            <a:off x="7635240" y="4453128"/>
            <a:ext cx="4005072" cy="1216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7352D"/>
                </a:solidFill>
                <a:latin typeface="Arial"/>
              </a:defRPr>
            </a:pPr>
            <a:r>
              <a:t>Heavy regularisation underfits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650">
                <a:solidFill>
                  <a:srgbClr val="17352D"/>
                </a:solidFill>
                <a:latin typeface="Arial"/>
              </a:defRPr>
            </a:pPr>
            <a:r>
              <a:t>With decay 1, performance stays near chance (roughly 0.51–0.53).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053328"/>
            <a:ext cx="11091672" cy="411480"/>
          </a:xfrm>
          <a:prstGeom prst="rect">
            <a:avLst/>
          </a:prstGeom>
          <a:solidFill>
            <a:srgbClr val="F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th 145 training programmes, added model complexity does not guarantee better predictions"/>
          <p:cNvSpPr txBox="1"/>
          <p:nvPr/>
        </p:nvSpPr>
        <p:spPr>
          <a:xfrm>
            <a:off x="685800" y="6149340"/>
            <a:ext cx="10817352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52D"/>
                </a:solidFill>
                <a:latin typeface="Arial"/>
              </a:defRPr>
            </a:pPr>
            <a:r>
              <a:t>With 145 training programmes, added model complexity does not guarantee better predictions.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odel comparison: no reliable winner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Model comparison: no reliable winner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11254153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2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12/13</a:t>
            </a:r>
          </a:p>
        </p:txBody>
      </p:sp>
      <p:sp>
        <p:nvSpPr>
          <p:cNvPr id="6" name="Machine Learning in Finance  /  Model comparison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Model comparison</a:t>
            </a:r>
          </a:p>
        </p:txBody>
      </p:sp>
      <p:pic>
        <p:nvPicPr>
          <p:cNvPr id="7" name="model_comparison.png" descr="model 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464808" cy="3888486"/>
          </a:xfrm>
          <a:prstGeom prst="rect">
            <a:avLst/>
          </a:prstGeom>
        </p:spPr>
      </p:pic>
      <p:sp>
        <p:nvSpPr>
          <p:cNvPr id="8" name="Original test-set comparison. The 0.50 line is a chance reference for balanced accuracy an"/>
          <p:cNvSpPr txBox="1"/>
          <p:nvPr/>
        </p:nvSpPr>
        <p:spPr>
          <a:xfrm>
            <a:off x="548640" y="5303520"/>
            <a:ext cx="6464808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Original test-set comparison. The 0.50 line is a chance reference for balanced accuracy and AUC, not the majority-class accuracy benchmark.</a:t>
            </a:r>
          </a:p>
        </p:txBody>
      </p:sp>
      <p:sp>
        <p:nvSpPr>
          <p:cNvPr id="9" name="ALL MODELS / SAME 28 TEST PROGRAMMES"/>
          <p:cNvSpPr txBox="1"/>
          <p:nvPr/>
        </p:nvSpPr>
        <p:spPr>
          <a:xfrm>
            <a:off x="7415783" y="1078992"/>
            <a:ext cx="42245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ALL MODELS / SAME 28 TEST PROGRAMMES</a:t>
            </a:r>
          </a:p>
        </p:txBody>
      </p:sp>
      <p:graphicFrame>
        <p:nvGraphicFramePr>
          <p:cNvPr id="10" name="Editable data table"/>
          <p:cNvGraphicFramePr>
            <a:graphicFrameLocks noGrp="1"/>
          </p:cNvGraphicFramePr>
          <p:nvPr/>
        </p:nvGraphicFramePr>
        <p:xfrm>
          <a:off x="7415783" y="1517904"/>
          <a:ext cx="422452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488"/>
                <a:gridCol w="86868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Acc.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BA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1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AUC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Logistic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0.536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0.570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0.684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Forest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0.500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0.508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0.586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Neural net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0.500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0.556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0.567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Always 1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0.607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0.500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0"/>
                        </a:spcAft>
                        <a:defRPr sz="1350" b="0">
                          <a:solidFill>
                            <a:srgbClr val="17352D"/>
                          </a:solidFill>
                          <a:latin typeface="Arial"/>
                        </a:defRPr>
                      </a:pPr>
                      <a:r>
                        <a:t>0.500</a:t>
                      </a:r>
                    </a:p>
                  </a:txBody>
                  <a:tcPr marL="18288" marR="64008" marT="54864" marB="27432" anchor="t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7415783" y="1517904"/>
            <a:ext cx="4224529" cy="0"/>
          </a:xfrm>
          <a:prstGeom prst="line">
            <a:avLst/>
          </a:prstGeom>
          <a:ln w="1397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15783" y="1883664"/>
            <a:ext cx="4224529" cy="0"/>
          </a:xfrm>
          <a:prstGeom prst="line">
            <a:avLst/>
          </a:prstGeom>
          <a:ln w="889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15783" y="3346704"/>
            <a:ext cx="4224529" cy="0"/>
          </a:xfrm>
          <a:prstGeom prst="line">
            <a:avLst/>
          </a:prstGeom>
          <a:ln w="13970">
            <a:solidFill>
              <a:srgbClr val="1735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Neither the forest nor the neural network is reliably better than the other."/>
          <p:cNvSpPr txBox="1"/>
          <p:nvPr/>
        </p:nvSpPr>
        <p:spPr>
          <a:xfrm>
            <a:off x="7415783" y="3675887"/>
            <a:ext cx="4224528" cy="8321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52D"/>
                </a:solidFill>
                <a:latin typeface="Arial"/>
              </a:defRPr>
            </a:pPr>
            <a:r>
              <a:t>Neither the forest nor the neural network is reliably better than the other.</a:t>
            </a:r>
          </a:p>
        </p:txBody>
      </p:sp>
      <p:sp>
        <p:nvSpPr>
          <p:cNvPr id="15" name="Logistic regression has the highest reported BA and AUC, but this small test sample cannot"/>
          <p:cNvSpPr txBox="1"/>
          <p:nvPr/>
        </p:nvSpPr>
        <p:spPr>
          <a:xfrm>
            <a:off x="7415783" y="4645152"/>
            <a:ext cx="4224528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52D"/>
                </a:solidFill>
                <a:latin typeface="Arial"/>
              </a:defRPr>
            </a:pPr>
            <a:r>
              <a:t>Logistic regression has the highest reported BA and AUC, but this small test sample cannot establish a reliable ranking.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70448"/>
            <a:ext cx="11091672" cy="530352"/>
          </a:xfrm>
          <a:prstGeom prst="rect">
            <a:avLst/>
          </a:prstGeom>
          <a:solidFill>
            <a:srgbClr val="F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ore flexible models do not demonstrate a dependable advantage in this sample."/>
          <p:cNvSpPr txBox="1"/>
          <p:nvPr/>
        </p:nvSpPr>
        <p:spPr>
          <a:xfrm>
            <a:off x="685800" y="5966460"/>
            <a:ext cx="10817352" cy="3840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52D"/>
                </a:solidFill>
                <a:latin typeface="Arial"/>
              </a:defRPr>
            </a:pPr>
            <a:r>
              <a:t>More flexible models do not demonstrate a dependable advantage in this sample.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mitations and conclusion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Limitations and 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6510">
            <a:solidFill>
              <a:srgbClr val="0084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3/13"/>
          <p:cNvSpPr txBox="1"/>
          <p:nvPr/>
        </p:nvSpPr>
        <p:spPr>
          <a:xfrm>
            <a:off x="11045952" y="65653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52D"/>
                </a:solidFill>
                <a:latin typeface="Arial"/>
              </a:defRPr>
            </a:pPr>
            <a:r>
              <a:t>13/13</a:t>
            </a:r>
          </a:p>
        </p:txBody>
      </p:sp>
      <p:sp>
        <p:nvSpPr>
          <p:cNvPr id="6" name="Machine Learning in Finance  /  Conclusion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Conclusion</a:t>
            </a:r>
          </a:p>
        </p:txBody>
      </p:sp>
      <p:sp>
        <p:nvSpPr>
          <p:cNvPr id="7" name="WHAT LIMITS THE EVIDENCE"/>
          <p:cNvSpPr txBox="1"/>
          <p:nvPr/>
        </p:nvSpPr>
        <p:spPr>
          <a:xfrm>
            <a:off x="548640" y="1078992"/>
            <a:ext cx="523036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WHAT LIMITS THE EVIDENCE</a:t>
            </a:r>
          </a:p>
        </p:txBody>
      </p:sp>
      <p:sp>
        <p:nvSpPr>
          <p:cNvPr id="8" name="Small sample"/>
          <p:cNvSpPr txBox="1"/>
          <p:nvPr/>
        </p:nvSpPr>
        <p:spPr>
          <a:xfrm>
            <a:off x="548640" y="1581912"/>
            <a:ext cx="5230368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Small sample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145 training and 28 test programmes, with only 11 completed. One extra correct prediction changes BA by about 0.03–0.05.</a:t>
            </a:r>
          </a:p>
        </p:txBody>
      </p:sp>
      <p:sp>
        <p:nvSpPr>
          <p:cNvPr id="9" name="One time split"/>
          <p:cNvSpPr txBox="1"/>
          <p:nvPr/>
        </p:nvSpPr>
        <p:spPr>
          <a:xfrm>
            <a:off x="548640" y="3081528"/>
            <a:ext cx="5230368" cy="1069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One time split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The interruption share rises from 45% in development to 61% in the test period.</a:t>
            </a:r>
          </a:p>
        </p:txBody>
      </p:sp>
      <p:sp>
        <p:nvSpPr>
          <p:cNvPr id="10" name="Coarse approval-day inputs"/>
          <p:cNvSpPr txBox="1"/>
          <p:nvPr/>
        </p:nvSpPr>
        <p:spPr>
          <a:xfrm>
            <a:off x="548640" y="4416552"/>
            <a:ext cx="5230368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Coarse approval-day inputs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Political commitment, institutional detail and post-approval shocks are not captured.</a:t>
            </a:r>
          </a:p>
        </p:txBody>
      </p:sp>
      <p:sp>
        <p:nvSpPr>
          <p:cNvPr id="11" name="WHAT WE LEARN"/>
          <p:cNvSpPr txBox="1"/>
          <p:nvPr/>
        </p:nvSpPr>
        <p:spPr>
          <a:xfrm>
            <a:off x="6428232" y="107899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WHAT WE LEARN</a:t>
            </a:r>
          </a:p>
        </p:txBody>
      </p:sp>
      <p:sp>
        <p:nvSpPr>
          <p:cNvPr id="12" name="The signal is weak"/>
          <p:cNvSpPr txBox="1"/>
          <p:nvPr/>
        </p:nvSpPr>
        <p:spPr>
          <a:xfrm>
            <a:off x="6428232" y="1581912"/>
            <a:ext cx="5212080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The signal is weak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About 0.63 out-of-fold BA for the forest, but no reliable edge over chance on the test set.</a:t>
            </a:r>
          </a:p>
        </p:txBody>
      </p:sp>
      <p:sp>
        <p:nvSpPr>
          <p:cNvPr id="13" name="Deal design predicts best"/>
          <p:cNvSpPr txBox="1"/>
          <p:nvPr/>
        </p:nvSpPr>
        <p:spPr>
          <a:xfrm>
            <a:off x="6428232" y="3081528"/>
            <a:ext cx="5212080" cy="1069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Deal design predicts best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Reviews, facility type and loan size lead. Macro variables contribute little in this forest.</a:t>
            </a:r>
          </a:p>
        </p:txBody>
      </p:sp>
      <p:sp>
        <p:nvSpPr>
          <p:cNvPr id="14" name="The metric matters"/>
          <p:cNvSpPr txBox="1"/>
          <p:nvPr/>
        </p:nvSpPr>
        <p:spPr>
          <a:xfrm>
            <a:off x="6428232" y="4416552"/>
            <a:ext cx="5212080" cy="124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7352D"/>
                </a:solidFill>
                <a:latin typeface="Arial"/>
              </a:defRPr>
            </a:pPr>
            <a:r>
              <a:t>The metric matters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17352D"/>
                </a:solidFill>
                <a:latin typeface="Arial"/>
              </a:defRPr>
            </a:pPr>
            <a:r>
              <a:t>Plain accuracy can reward an always-interrupted rule. Balanced accuracy gives equal weight to both outcomes.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797296"/>
            <a:ext cx="11091672" cy="676656"/>
          </a:xfrm>
          <a:prstGeom prst="rect">
            <a:avLst/>
          </a:prstGeom>
          <a:solidFill>
            <a:srgbClr val="F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pproval-time prediction is promising as a research question, but the current evidence is "/>
          <p:cNvSpPr txBox="1"/>
          <p:nvPr/>
        </p:nvSpPr>
        <p:spPr>
          <a:xfrm>
            <a:off x="685800" y="5893308"/>
            <a:ext cx="10817352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52D"/>
                </a:solidFill>
                <a:latin typeface="Arial"/>
              </a:defRPr>
            </a:pPr>
            <a:r>
              <a:t>Approval-time prediction is promising as a research question, but the current evidence is too weak for a dependable risk flag.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s / IMF programmes and implementation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Sources / IMF programmes and implementation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chine Learning in Finance  /  Sources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Sources</a:t>
            </a:r>
          </a:p>
        </p:txBody>
      </p:sp>
      <p:sp>
        <p:nvSpPr>
          <p:cNvPr id="5" name="Agbloyor, E. K., Pan, L., Dwumfour, R. A., &amp; Gyeke-Dako, A. (2023). We are back again! Wha"/>
          <p:cNvSpPr txBox="1"/>
          <p:nvPr/>
        </p:nvSpPr>
        <p:spPr>
          <a:xfrm>
            <a:off x="548640" y="1115568"/>
            <a:ext cx="521208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Agbloyor, E. K., Pan, L., Dwumfour, R. A., &amp; Gyeke-Dako, A. (2023). We are back again! What can artificial intelligence and machine learning models tell us about why countries knock at the door of the IMF? Finance Research Letters, 57, 104244.</a:t>
            </a:r>
          </a:p>
        </p:txBody>
      </p:sp>
      <p:sp>
        <p:nvSpPr>
          <p:cNvPr id="6" name="Aiyar, S., &amp; Patnam, M. (2021). IMF programs and financial flows to offshore centers. IMF "/>
          <p:cNvSpPr txBox="1"/>
          <p:nvPr/>
        </p:nvSpPr>
        <p:spPr>
          <a:xfrm>
            <a:off x="548640" y="315468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Aiyar, S., &amp; Patnam, M. (2021). IMF programs and financial flows to offshore centers. IMF Working Paper No. 21/146. International Monetary Fund.</a:t>
            </a:r>
          </a:p>
        </p:txBody>
      </p:sp>
      <p:sp>
        <p:nvSpPr>
          <p:cNvPr id="7" name="Batsuuri, T., He, S., Hu, R., Leslie, J., &amp; Lutz, F. (2024). Predicting IMF-supported prog"/>
          <p:cNvSpPr txBox="1"/>
          <p:nvPr/>
        </p:nvSpPr>
        <p:spPr>
          <a:xfrm>
            <a:off x="548640" y="468172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Batsuuri, T., He, S., Hu, R., Leslie, J., &amp; Lutz, F. (2024). Predicting IMF-supported programs: A machine learning approach. IMF Working Paper No. 24/54. International Monetary Fund.</a:t>
            </a:r>
          </a:p>
        </p:txBody>
      </p:sp>
      <p:sp>
        <p:nvSpPr>
          <p:cNvPr id="8" name="Ivanova, A., Mayer, W., Mourmouras, A., &amp; Anayiotos, G. (2003). What determines the implem"/>
          <p:cNvSpPr txBox="1"/>
          <p:nvPr/>
        </p:nvSpPr>
        <p:spPr>
          <a:xfrm>
            <a:off x="6428232" y="1115568"/>
            <a:ext cx="5212080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Ivanova, A., Mayer, W., Mourmouras, A., &amp; Anayiotos, G. (2003). What determines the implementation of IMF-supported programs? IMF Working Paper No. 03/8. International Monetary Fund.</a:t>
            </a:r>
          </a:p>
        </p:txBody>
      </p:sp>
      <p:sp>
        <p:nvSpPr>
          <p:cNvPr id="9" name="Joyce, J. P. (2006). Promises made, promises broken: A model of IMF program implementation"/>
          <p:cNvSpPr txBox="1"/>
          <p:nvPr/>
        </p:nvSpPr>
        <p:spPr>
          <a:xfrm>
            <a:off x="6428232" y="3063240"/>
            <a:ext cx="5212080" cy="124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Joyce, J. P. (2006). Promises made, promises broken: A model of IMF program implementation. Economics &amp; Politics, 18(3), 339–365.</a:t>
            </a:r>
          </a:p>
        </p:txBody>
      </p:sp>
      <p:sp>
        <p:nvSpPr>
          <p:cNvPr id="10" name="Reinsberg, B., Stubbs, T., &amp; Kentikelenis, A. (2022). Compliance, defiance, and the depend"/>
          <p:cNvSpPr txBox="1"/>
          <p:nvPr/>
        </p:nvSpPr>
        <p:spPr>
          <a:xfrm>
            <a:off x="6428232" y="4581144"/>
            <a:ext cx="521208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Reinsberg, B., Stubbs, T., &amp; Kentikelenis, A. (2022). Compliance, defiance, and the dependency trap: International Monetary Fund program interruptions and their impact on capital markets. Regulation &amp; Governance, 16(4), 1022–1041.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s / Methods and data"/>
          <p:cNvSpPr txBox="1"/>
          <p:nvPr/>
        </p:nvSpPr>
        <p:spPr>
          <a:xfrm>
            <a:off x="548640" y="219456"/>
            <a:ext cx="110825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52D"/>
                </a:solidFill>
                <a:latin typeface="Arial"/>
              </a:defRPr>
            </a:pPr>
            <a:r>
              <a:t>Sources / Methods and data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49808"/>
            <a:ext cx="12192000" cy="0"/>
          </a:xfrm>
          <a:prstGeom prst="line">
            <a:avLst/>
          </a:prstGeom>
          <a:ln w="10160">
            <a:solidFill>
              <a:srgbClr val="D7E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chine Learning in Finance  /  Sources"/>
          <p:cNvSpPr txBox="1"/>
          <p:nvPr/>
        </p:nvSpPr>
        <p:spPr>
          <a:xfrm>
            <a:off x="548640" y="65653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16B"/>
                </a:solidFill>
                <a:latin typeface="Arial"/>
              </a:defRPr>
            </a:pPr>
            <a:r>
              <a:t>Machine Learning in Finance  /  Sources</a:t>
            </a:r>
          </a:p>
        </p:txBody>
      </p:sp>
      <p:sp>
        <p:nvSpPr>
          <p:cNvPr id="5" name="METHODS"/>
          <p:cNvSpPr txBox="1"/>
          <p:nvPr/>
        </p:nvSpPr>
        <p:spPr>
          <a:xfrm>
            <a:off x="548640" y="107899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6" name="DATA SOURCES"/>
          <p:cNvSpPr txBox="1"/>
          <p:nvPr/>
        </p:nvSpPr>
        <p:spPr>
          <a:xfrm>
            <a:off x="6428232" y="107899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43D"/>
                </a:solidFill>
                <a:latin typeface="Arial"/>
              </a:defRPr>
            </a:pPr>
            <a:r>
              <a:t>DATA SOURCES</a:t>
            </a:r>
          </a:p>
        </p:txBody>
      </p:sp>
      <p:sp>
        <p:nvSpPr>
          <p:cNvPr id="7" name="He, H., &amp; Garcia, E. A. (2009). Learning from imbalanced data. IEEE Transactions on Knowle"/>
          <p:cNvSpPr txBox="1"/>
          <p:nvPr/>
        </p:nvSpPr>
        <p:spPr>
          <a:xfrm>
            <a:off x="548640" y="1600200"/>
            <a:ext cx="5212080" cy="1133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He, H., &amp; Garcia, E. A. (2009). Learning from imbalanced data. IEEE Transactions on Knowledge and Data Engineering, 21(9), 1263–1284.</a:t>
            </a:r>
          </a:p>
        </p:txBody>
      </p:sp>
      <p:sp>
        <p:nvSpPr>
          <p:cNvPr id="8" name="James, G., Witten, D., Hastie, T., &amp; Tibshirani, R. (2013). An introduction to statistical"/>
          <p:cNvSpPr txBox="1"/>
          <p:nvPr/>
        </p:nvSpPr>
        <p:spPr>
          <a:xfrm>
            <a:off x="548640" y="3017520"/>
            <a:ext cx="5212080" cy="1133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James, G., Witten, D., Hastie, T., &amp; Tibshirani, R. (2013). An introduction to statistical learning: With applications in R. Springer.</a:t>
            </a:r>
          </a:p>
        </p:txBody>
      </p:sp>
      <p:sp>
        <p:nvSpPr>
          <p:cNvPr id="9" name="Shmueli, G. (2010). To explain or to predict? Statistical Science, 25(3), 289–310."/>
          <p:cNvSpPr txBox="1"/>
          <p:nvPr/>
        </p:nvSpPr>
        <p:spPr>
          <a:xfrm>
            <a:off x="548640" y="4434840"/>
            <a:ext cx="5212080" cy="1133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Shmueli, G. (2010). To explain or to predict? Statistical Science, 25(3), 289–310.</a:t>
            </a:r>
          </a:p>
        </p:txBody>
      </p:sp>
      <p:sp>
        <p:nvSpPr>
          <p:cNvPr id="10" name="International Monetary Fund. (2026a). IMF lending commitments [Database]."/>
          <p:cNvSpPr txBox="1"/>
          <p:nvPr/>
        </p:nvSpPr>
        <p:spPr>
          <a:xfrm>
            <a:off x="6428232" y="1600200"/>
            <a:ext cx="5212080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International Monetary Fund. (2026a). IMF lending commitments [Database].</a:t>
            </a:r>
          </a:p>
        </p:txBody>
      </p:sp>
      <p:sp>
        <p:nvSpPr>
          <p:cNvPr id="11" name="International Monetary Fund. (2026b). Monitoring of Fund Arrangements (MONA) [Database]."/>
          <p:cNvSpPr txBox="1"/>
          <p:nvPr/>
        </p:nvSpPr>
        <p:spPr>
          <a:xfrm>
            <a:off x="6428232" y="2624328"/>
            <a:ext cx="5212080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International Monetary Fund. (2026b). Monitoring of Fund Arrangements (MONA) [Database].</a:t>
            </a:r>
          </a:p>
        </p:txBody>
      </p:sp>
      <p:sp>
        <p:nvSpPr>
          <p:cNvPr id="12" name="International Monetary Fund. (2026c). World Economic Outlook database: April 2026 edition "/>
          <p:cNvSpPr txBox="1"/>
          <p:nvPr/>
        </p:nvSpPr>
        <p:spPr>
          <a:xfrm>
            <a:off x="6428232" y="3730752"/>
            <a:ext cx="5212080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International Monetary Fund. (2026c). World Economic Outlook database: April 2026 edition [Database].</a:t>
            </a:r>
          </a:p>
        </p:txBody>
      </p:sp>
      <p:sp>
        <p:nvSpPr>
          <p:cNvPr id="13" name="World Bank. (2026). World Development Indicators (WDI) [Database]."/>
          <p:cNvSpPr txBox="1"/>
          <p:nvPr/>
        </p:nvSpPr>
        <p:spPr>
          <a:xfrm>
            <a:off x="6428232" y="4919472"/>
            <a:ext cx="5212080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352D"/>
                </a:solidFill>
                <a:latin typeface="Arial"/>
              </a:defRPr>
            </a:pPr>
            <a:r>
              <a:t>World Bank. (2026). World Development Indicators (WDI) [Database].</a:t>
            </a:r>
          </a:p>
        </p:txBody>
      </p:sp>
      <p:sp>
        <p:nvSpPr>
          <p:cNvPr id="14" name="The WEO and WDI references are retained from the original presentation; the final approval"/>
          <p:cNvSpPr txBox="1"/>
          <p:nvPr/>
        </p:nvSpPr>
        <p:spPr>
          <a:xfrm>
            <a:off x="548640" y="6099048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716B"/>
                </a:solidFill>
                <a:latin typeface="Arial"/>
              </a:defRPr>
            </a:pPr>
            <a:r>
              <a:t>The WEO and WDI references are retained from the original presentation; the final approval-time macro predictors are from MONA.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IMF Programs on Day One</dc:title>
  <dc:subject>Approval-time prediction of IMF programme interruptions</dc:subject>
  <dc:creator>Mathis Clément; Ethan Moore; Ali Haidar; Tristan Zemp; Joao Matteo Pisaturo; José Pablo Caldas; Federico Marcelli</dc:creator>
  <cp:keywords>IMF; machine learning; University of St. Gallen</cp:keywords>
  <dc:description>Editable PowerPoint counterpart of Presentation/presentation.tex.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